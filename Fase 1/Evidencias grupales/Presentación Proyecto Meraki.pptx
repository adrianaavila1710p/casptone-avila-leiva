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ukhari Script" charset="1" panose="00000500000000000000"/>
      <p:regular r:id="rId17"/>
    </p:embeddedFont>
    <p:embeddedFont>
      <p:font typeface="Questrial" charset="1" panose="00000000000000000000"/>
      <p:regular r:id="rId18"/>
    </p:embeddedFont>
    <p:embeddedFont>
      <p:font typeface="Open Sans" charset="1" panose="00000000000000000000"/>
      <p:regular r:id="rId19"/>
    </p:embeddedFont>
    <p:embeddedFont>
      <p:font typeface="Gotham" charset="1" panose="00000000000000000000"/>
      <p:regular r:id="rId20"/>
    </p:embeddedFont>
    <p:embeddedFont>
      <p:font typeface="Gotham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3.png" Type="http://schemas.openxmlformats.org/officeDocument/2006/relationships/image"/><Relationship Id="rId12" Target="../media/image4.svg" Type="http://schemas.openxmlformats.org/officeDocument/2006/relationships/image"/><Relationship Id="rId13" Target="../media/image9.png" Type="http://schemas.openxmlformats.org/officeDocument/2006/relationships/image"/><Relationship Id="rId14" Target="../media/image10.sv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jpeg" Type="http://schemas.openxmlformats.org/officeDocument/2006/relationships/image"/><Relationship Id="rId7" Target="../media/image27.jpeg" Type="http://schemas.openxmlformats.org/officeDocument/2006/relationships/image"/><Relationship Id="rId8" Target="../media/image28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513727" y="-88300"/>
            <a:ext cx="13873275" cy="10404956"/>
          </a:xfrm>
          <a:custGeom>
            <a:avLst/>
            <a:gdLst/>
            <a:ahLst/>
            <a:cxnLst/>
            <a:rect r="r" b="b" t="t" l="l"/>
            <a:pathLst>
              <a:path h="10404956" w="13873275">
                <a:moveTo>
                  <a:pt x="0" y="0"/>
                </a:moveTo>
                <a:lnTo>
                  <a:pt x="13873275" y="0"/>
                </a:lnTo>
                <a:lnTo>
                  <a:pt x="13873275" y="10404957"/>
                </a:lnTo>
                <a:lnTo>
                  <a:pt x="0" y="1040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060623" y="6568210"/>
            <a:ext cx="6751839" cy="3805582"/>
          </a:xfrm>
          <a:custGeom>
            <a:avLst/>
            <a:gdLst/>
            <a:ahLst/>
            <a:cxnLst/>
            <a:rect r="r" b="b" t="t" l="l"/>
            <a:pathLst>
              <a:path h="3805582" w="6751839">
                <a:moveTo>
                  <a:pt x="6751839" y="0"/>
                </a:moveTo>
                <a:lnTo>
                  <a:pt x="0" y="0"/>
                </a:lnTo>
                <a:lnTo>
                  <a:pt x="0" y="3805582"/>
                </a:lnTo>
                <a:lnTo>
                  <a:pt x="6751839" y="3805582"/>
                </a:lnTo>
                <a:lnTo>
                  <a:pt x="67518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16088" y="2756046"/>
            <a:ext cx="6397440" cy="7560611"/>
          </a:xfrm>
          <a:custGeom>
            <a:avLst/>
            <a:gdLst/>
            <a:ahLst/>
            <a:cxnLst/>
            <a:rect r="r" b="b" t="t" l="l"/>
            <a:pathLst>
              <a:path h="7560611" w="6397440">
                <a:moveTo>
                  <a:pt x="0" y="0"/>
                </a:moveTo>
                <a:lnTo>
                  <a:pt x="6397440" y="0"/>
                </a:lnTo>
                <a:lnTo>
                  <a:pt x="6397440" y="7560611"/>
                </a:lnTo>
                <a:lnTo>
                  <a:pt x="0" y="7560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4240" y="1095375"/>
            <a:ext cx="7789898" cy="2157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8"/>
              </a:lnSpc>
            </a:pPr>
            <a:r>
              <a:rPr lang="en-US" sz="14633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Meraki</a:t>
            </a:r>
          </a:p>
        </p:txBody>
      </p:sp>
      <p:sp>
        <p:nvSpPr>
          <p:cNvPr name="Freeform 6" id="6"/>
          <p:cNvSpPr/>
          <p:nvPr/>
        </p:nvSpPr>
        <p:spPr>
          <a:xfrm flipH="false" flipV="true" rot="0">
            <a:off x="13603647" y="-428121"/>
            <a:ext cx="5600251" cy="3156505"/>
          </a:xfrm>
          <a:custGeom>
            <a:avLst/>
            <a:gdLst/>
            <a:ahLst/>
            <a:cxnLst/>
            <a:rect r="r" b="b" t="t" l="l"/>
            <a:pathLst>
              <a:path h="3156505" w="5600251">
                <a:moveTo>
                  <a:pt x="0" y="3156506"/>
                </a:moveTo>
                <a:lnTo>
                  <a:pt x="5600251" y="3156506"/>
                </a:lnTo>
                <a:lnTo>
                  <a:pt x="5600251" y="0"/>
                </a:lnTo>
                <a:lnTo>
                  <a:pt x="0" y="0"/>
                </a:lnTo>
                <a:lnTo>
                  <a:pt x="0" y="315650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04408" y="8923805"/>
            <a:ext cx="2022204" cy="2556809"/>
          </a:xfrm>
          <a:custGeom>
            <a:avLst/>
            <a:gdLst/>
            <a:ahLst/>
            <a:cxnLst/>
            <a:rect r="r" b="b" t="t" l="l"/>
            <a:pathLst>
              <a:path h="2556809" w="2022204">
                <a:moveTo>
                  <a:pt x="0" y="0"/>
                </a:moveTo>
                <a:lnTo>
                  <a:pt x="2022204" y="0"/>
                </a:lnTo>
                <a:lnTo>
                  <a:pt x="2022204" y="2556810"/>
                </a:lnTo>
                <a:lnTo>
                  <a:pt x="0" y="25568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076140" y="3811288"/>
            <a:ext cx="1077544" cy="1093449"/>
          </a:xfrm>
          <a:custGeom>
            <a:avLst/>
            <a:gdLst/>
            <a:ahLst/>
            <a:cxnLst/>
            <a:rect r="r" b="b" t="t" l="l"/>
            <a:pathLst>
              <a:path h="1093449" w="1077544">
                <a:moveTo>
                  <a:pt x="0" y="0"/>
                </a:moveTo>
                <a:lnTo>
                  <a:pt x="1077544" y="0"/>
                </a:lnTo>
                <a:lnTo>
                  <a:pt x="1077544" y="1093448"/>
                </a:lnTo>
                <a:lnTo>
                  <a:pt x="0" y="1093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166800" y="5847203"/>
            <a:ext cx="1850752" cy="38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spc="-48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Date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257226" y="2590930"/>
            <a:ext cx="538772" cy="546724"/>
          </a:xfrm>
          <a:custGeom>
            <a:avLst/>
            <a:gdLst/>
            <a:ahLst/>
            <a:cxnLst/>
            <a:rect r="r" b="b" t="t" l="l"/>
            <a:pathLst>
              <a:path h="546724" w="538772">
                <a:moveTo>
                  <a:pt x="0" y="0"/>
                </a:moveTo>
                <a:lnTo>
                  <a:pt x="538772" y="0"/>
                </a:lnTo>
                <a:lnTo>
                  <a:pt x="538772" y="546724"/>
                </a:lnTo>
                <a:lnTo>
                  <a:pt x="0" y="5467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053642" y="3624373"/>
            <a:ext cx="5314767" cy="518687"/>
            <a:chOff x="0" y="0"/>
            <a:chExt cx="9499600" cy="927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99600" cy="927100"/>
            </a:xfrm>
            <a:custGeom>
              <a:avLst/>
              <a:gdLst/>
              <a:ahLst/>
              <a:cxnLst/>
              <a:rect r="r" b="b" t="t" l="l"/>
              <a:pathLst>
                <a:path h="927100" w="9499600">
                  <a:moveTo>
                    <a:pt x="92710" y="0"/>
                  </a:moveTo>
                  <a:lnTo>
                    <a:pt x="9406890" y="0"/>
                  </a:lnTo>
                  <a:cubicBezTo>
                    <a:pt x="9458092" y="0"/>
                    <a:pt x="9499600" y="41508"/>
                    <a:pt x="9499600" y="92710"/>
                  </a:cubicBezTo>
                  <a:lnTo>
                    <a:pt x="9499600" y="834390"/>
                  </a:lnTo>
                  <a:cubicBezTo>
                    <a:pt x="9499600" y="885592"/>
                    <a:pt x="9458092" y="927100"/>
                    <a:pt x="9406890" y="927100"/>
                  </a:cubicBezTo>
                  <a:lnTo>
                    <a:pt x="92710" y="927100"/>
                  </a:lnTo>
                  <a:cubicBezTo>
                    <a:pt x="68122" y="927100"/>
                    <a:pt x="44541" y="917332"/>
                    <a:pt x="27154" y="899946"/>
                  </a:cubicBezTo>
                  <a:cubicBezTo>
                    <a:pt x="9768" y="882559"/>
                    <a:pt x="0" y="858978"/>
                    <a:pt x="0" y="834390"/>
                  </a:cubicBezTo>
                  <a:lnTo>
                    <a:pt x="0" y="92710"/>
                  </a:lnTo>
                  <a:cubicBezTo>
                    <a:pt x="0" y="41508"/>
                    <a:pt x="41508" y="0"/>
                    <a:pt x="92710" y="0"/>
                  </a:cubicBezTo>
                  <a:close/>
                </a:path>
              </a:pathLst>
            </a:custGeom>
            <a:solidFill>
              <a:srgbClr val="1F2C3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4996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224169" y="3685747"/>
            <a:ext cx="4973713" cy="35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E9EDEF"/>
                </a:solidFill>
                <a:latin typeface="Open Sans"/>
                <a:ea typeface="Open Sans"/>
                <a:cs typeface="Open Sans"/>
                <a:sym typeface="Open Sans"/>
              </a:rPr>
              <a:t>¿Tienes hora para mañana?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067278" y="4274565"/>
            <a:ext cx="5314767" cy="518687"/>
            <a:chOff x="0" y="0"/>
            <a:chExt cx="9499600" cy="927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99600" cy="927100"/>
            </a:xfrm>
            <a:custGeom>
              <a:avLst/>
              <a:gdLst/>
              <a:ahLst/>
              <a:cxnLst/>
              <a:rect r="r" b="b" t="t" l="l"/>
              <a:pathLst>
                <a:path h="927100" w="9499600">
                  <a:moveTo>
                    <a:pt x="92710" y="0"/>
                  </a:moveTo>
                  <a:lnTo>
                    <a:pt x="9406890" y="0"/>
                  </a:lnTo>
                  <a:cubicBezTo>
                    <a:pt x="9458092" y="0"/>
                    <a:pt x="9499600" y="41508"/>
                    <a:pt x="9499600" y="92710"/>
                  </a:cubicBezTo>
                  <a:lnTo>
                    <a:pt x="9499600" y="834390"/>
                  </a:lnTo>
                  <a:cubicBezTo>
                    <a:pt x="9499600" y="885592"/>
                    <a:pt x="9458092" y="927100"/>
                    <a:pt x="9406890" y="927100"/>
                  </a:cubicBezTo>
                  <a:lnTo>
                    <a:pt x="92710" y="927100"/>
                  </a:lnTo>
                  <a:cubicBezTo>
                    <a:pt x="68122" y="927100"/>
                    <a:pt x="44541" y="917332"/>
                    <a:pt x="27154" y="899946"/>
                  </a:cubicBezTo>
                  <a:cubicBezTo>
                    <a:pt x="9768" y="882559"/>
                    <a:pt x="0" y="858978"/>
                    <a:pt x="0" y="834390"/>
                  </a:cubicBezTo>
                  <a:lnTo>
                    <a:pt x="0" y="92710"/>
                  </a:lnTo>
                  <a:cubicBezTo>
                    <a:pt x="0" y="41508"/>
                    <a:pt x="41508" y="0"/>
                    <a:pt x="92710" y="0"/>
                  </a:cubicBezTo>
                  <a:close/>
                </a:path>
              </a:pathLst>
            </a:custGeom>
            <a:solidFill>
              <a:srgbClr val="1F2C3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4996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224169" y="4374962"/>
            <a:ext cx="4973713" cy="35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E9EDEF"/>
                </a:solidFill>
                <a:latin typeface="Open Sans"/>
                <a:ea typeface="Open Sans"/>
                <a:cs typeface="Open Sans"/>
                <a:sym typeface="Open Sans"/>
              </a:rPr>
              <a:t>¿Cuánto cuesta el lifting?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053642" y="5002802"/>
            <a:ext cx="5314767" cy="518687"/>
            <a:chOff x="0" y="0"/>
            <a:chExt cx="9499600" cy="927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99600" cy="927100"/>
            </a:xfrm>
            <a:custGeom>
              <a:avLst/>
              <a:gdLst/>
              <a:ahLst/>
              <a:cxnLst/>
              <a:rect r="r" b="b" t="t" l="l"/>
              <a:pathLst>
                <a:path h="927100" w="9499600">
                  <a:moveTo>
                    <a:pt x="92710" y="0"/>
                  </a:moveTo>
                  <a:lnTo>
                    <a:pt x="9406890" y="0"/>
                  </a:lnTo>
                  <a:cubicBezTo>
                    <a:pt x="9458092" y="0"/>
                    <a:pt x="9499600" y="41508"/>
                    <a:pt x="9499600" y="92710"/>
                  </a:cubicBezTo>
                  <a:lnTo>
                    <a:pt x="9499600" y="834390"/>
                  </a:lnTo>
                  <a:cubicBezTo>
                    <a:pt x="9499600" y="885592"/>
                    <a:pt x="9458092" y="927100"/>
                    <a:pt x="9406890" y="927100"/>
                  </a:cubicBezTo>
                  <a:lnTo>
                    <a:pt x="92710" y="927100"/>
                  </a:lnTo>
                  <a:cubicBezTo>
                    <a:pt x="68122" y="927100"/>
                    <a:pt x="44541" y="917332"/>
                    <a:pt x="27154" y="899946"/>
                  </a:cubicBezTo>
                  <a:cubicBezTo>
                    <a:pt x="9768" y="882559"/>
                    <a:pt x="0" y="858978"/>
                    <a:pt x="0" y="834390"/>
                  </a:cubicBezTo>
                  <a:lnTo>
                    <a:pt x="0" y="92710"/>
                  </a:lnTo>
                  <a:cubicBezTo>
                    <a:pt x="0" y="41508"/>
                    <a:pt x="41508" y="0"/>
                    <a:pt x="92710" y="0"/>
                  </a:cubicBezTo>
                  <a:close/>
                </a:path>
              </a:pathLst>
            </a:custGeom>
            <a:solidFill>
              <a:srgbClr val="1F2C3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4996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224169" y="5064176"/>
            <a:ext cx="4973713" cy="35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E9EDEF"/>
                </a:solidFill>
                <a:latin typeface="Open Sans"/>
                <a:ea typeface="Open Sans"/>
                <a:cs typeface="Open Sans"/>
                <a:sym typeface="Open Sans"/>
              </a:rPr>
              <a:t>¿Tienes algo después de las 6?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053642" y="5692016"/>
            <a:ext cx="5314767" cy="518687"/>
            <a:chOff x="0" y="0"/>
            <a:chExt cx="9499600" cy="927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99600" cy="927100"/>
            </a:xfrm>
            <a:custGeom>
              <a:avLst/>
              <a:gdLst/>
              <a:ahLst/>
              <a:cxnLst/>
              <a:rect r="r" b="b" t="t" l="l"/>
              <a:pathLst>
                <a:path h="927100" w="9499600">
                  <a:moveTo>
                    <a:pt x="92710" y="0"/>
                  </a:moveTo>
                  <a:lnTo>
                    <a:pt x="9406890" y="0"/>
                  </a:lnTo>
                  <a:cubicBezTo>
                    <a:pt x="9458092" y="0"/>
                    <a:pt x="9499600" y="41508"/>
                    <a:pt x="9499600" y="92710"/>
                  </a:cubicBezTo>
                  <a:lnTo>
                    <a:pt x="9499600" y="834390"/>
                  </a:lnTo>
                  <a:cubicBezTo>
                    <a:pt x="9499600" y="885592"/>
                    <a:pt x="9458092" y="927100"/>
                    <a:pt x="9406890" y="927100"/>
                  </a:cubicBezTo>
                  <a:lnTo>
                    <a:pt x="92710" y="927100"/>
                  </a:lnTo>
                  <a:cubicBezTo>
                    <a:pt x="68122" y="927100"/>
                    <a:pt x="44541" y="917332"/>
                    <a:pt x="27154" y="899946"/>
                  </a:cubicBezTo>
                  <a:cubicBezTo>
                    <a:pt x="9768" y="882559"/>
                    <a:pt x="0" y="858978"/>
                    <a:pt x="0" y="834390"/>
                  </a:cubicBezTo>
                  <a:lnTo>
                    <a:pt x="0" y="92710"/>
                  </a:lnTo>
                  <a:cubicBezTo>
                    <a:pt x="0" y="41508"/>
                    <a:pt x="41508" y="0"/>
                    <a:pt x="92710" y="0"/>
                  </a:cubicBezTo>
                  <a:close/>
                </a:path>
              </a:pathLst>
            </a:custGeom>
            <a:solidFill>
              <a:srgbClr val="1F2C34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49960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1224169" y="5753390"/>
            <a:ext cx="4973713" cy="354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088">
                <a:solidFill>
                  <a:srgbClr val="E9EDEF"/>
                </a:solidFill>
                <a:latin typeface="Open Sans"/>
                <a:ea typeface="Open Sans"/>
                <a:cs typeface="Open Sans"/>
                <a:sym typeface="Open Sans"/>
              </a:rPr>
              <a:t>Hola??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13528" y="6763670"/>
            <a:ext cx="6196851" cy="879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  <a:spcBef>
                <a:spcPct val="0"/>
              </a:spcBef>
            </a:pPr>
            <a:r>
              <a:rPr lang="en-US" sz="266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Parte de su negocio depende de que ella tenga tiempo para responder.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44441" y="-117956"/>
            <a:ext cx="13873275" cy="10404956"/>
          </a:xfrm>
          <a:custGeom>
            <a:avLst/>
            <a:gdLst/>
            <a:ahLst/>
            <a:cxnLst/>
            <a:rect r="r" b="b" t="t" l="l"/>
            <a:pathLst>
              <a:path h="10404956" w="13873275">
                <a:moveTo>
                  <a:pt x="0" y="0"/>
                </a:moveTo>
                <a:lnTo>
                  <a:pt x="13873275" y="0"/>
                </a:lnTo>
                <a:lnTo>
                  <a:pt x="13873275" y="10404956"/>
                </a:lnTo>
                <a:lnTo>
                  <a:pt x="0" y="10404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44441" y="1774252"/>
            <a:ext cx="7068059" cy="7772058"/>
          </a:xfrm>
          <a:custGeom>
            <a:avLst/>
            <a:gdLst/>
            <a:ahLst/>
            <a:cxnLst/>
            <a:rect r="r" b="b" t="t" l="l"/>
            <a:pathLst>
              <a:path h="7772058" w="7068059">
                <a:moveTo>
                  <a:pt x="0" y="0"/>
                </a:moveTo>
                <a:lnTo>
                  <a:pt x="7068058" y="0"/>
                </a:lnTo>
                <a:lnTo>
                  <a:pt x="7068058" y="7772058"/>
                </a:lnTo>
                <a:lnTo>
                  <a:pt x="0" y="77720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23501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311060" y="9515348"/>
            <a:ext cx="20198826" cy="2030845"/>
            <a:chOff x="0" y="0"/>
            <a:chExt cx="5319855" cy="5348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319856" cy="534873"/>
            </a:xfrm>
            <a:custGeom>
              <a:avLst/>
              <a:gdLst/>
              <a:ahLst/>
              <a:cxnLst/>
              <a:rect r="r" b="b" t="t" l="l"/>
              <a:pathLst>
                <a:path h="534873" w="5319856">
                  <a:moveTo>
                    <a:pt x="0" y="0"/>
                  </a:moveTo>
                  <a:lnTo>
                    <a:pt x="5319856" y="0"/>
                  </a:lnTo>
                  <a:lnTo>
                    <a:pt x="5319856" y="534873"/>
                  </a:lnTo>
                  <a:lnTo>
                    <a:pt x="0" y="534873"/>
                  </a:lnTo>
                  <a:close/>
                </a:path>
              </a:pathLst>
            </a:custGeom>
            <a:solidFill>
              <a:srgbClr val="C03C4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5319855" cy="563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456308" y="2550680"/>
            <a:ext cx="8307458" cy="7736320"/>
          </a:xfrm>
          <a:custGeom>
            <a:avLst/>
            <a:gdLst/>
            <a:ahLst/>
            <a:cxnLst/>
            <a:rect r="r" b="b" t="t" l="l"/>
            <a:pathLst>
              <a:path h="7736320" w="8307458">
                <a:moveTo>
                  <a:pt x="0" y="0"/>
                </a:moveTo>
                <a:lnTo>
                  <a:pt x="8307457" y="0"/>
                </a:lnTo>
                <a:lnTo>
                  <a:pt x="8307457" y="7736320"/>
                </a:lnTo>
                <a:lnTo>
                  <a:pt x="0" y="77363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-1465585" y="-1114086"/>
            <a:ext cx="5600251" cy="3156505"/>
          </a:xfrm>
          <a:custGeom>
            <a:avLst/>
            <a:gdLst/>
            <a:ahLst/>
            <a:cxnLst/>
            <a:rect r="r" b="b" t="t" l="l"/>
            <a:pathLst>
              <a:path h="3156505" w="5600251">
                <a:moveTo>
                  <a:pt x="5600251" y="3156505"/>
                </a:moveTo>
                <a:lnTo>
                  <a:pt x="0" y="3156505"/>
                </a:lnTo>
                <a:lnTo>
                  <a:pt x="0" y="0"/>
                </a:lnTo>
                <a:lnTo>
                  <a:pt x="5600251" y="0"/>
                </a:lnTo>
                <a:lnTo>
                  <a:pt x="5600251" y="315650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144000" y="8879"/>
            <a:ext cx="1077544" cy="1093449"/>
          </a:xfrm>
          <a:custGeom>
            <a:avLst/>
            <a:gdLst/>
            <a:ahLst/>
            <a:cxnLst/>
            <a:rect r="r" b="b" t="t" l="l"/>
            <a:pathLst>
              <a:path h="1093449" w="1077544">
                <a:moveTo>
                  <a:pt x="0" y="0"/>
                </a:moveTo>
                <a:lnTo>
                  <a:pt x="1077544" y="0"/>
                </a:lnTo>
                <a:lnTo>
                  <a:pt x="1077544" y="1093449"/>
                </a:lnTo>
                <a:lnTo>
                  <a:pt x="0" y="10934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74459" y="815353"/>
            <a:ext cx="5251331" cy="2338049"/>
          </a:xfrm>
          <a:custGeom>
            <a:avLst/>
            <a:gdLst/>
            <a:ahLst/>
            <a:cxnLst/>
            <a:rect r="r" b="b" t="t" l="l"/>
            <a:pathLst>
              <a:path h="2338049" w="5251331">
                <a:moveTo>
                  <a:pt x="0" y="0"/>
                </a:moveTo>
                <a:lnTo>
                  <a:pt x="5251331" y="0"/>
                </a:lnTo>
                <a:lnTo>
                  <a:pt x="5251331" y="2338049"/>
                </a:lnTo>
                <a:lnTo>
                  <a:pt x="0" y="233804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96534" y="3588546"/>
            <a:ext cx="5251331" cy="2285553"/>
          </a:xfrm>
          <a:custGeom>
            <a:avLst/>
            <a:gdLst/>
            <a:ahLst/>
            <a:cxnLst/>
            <a:rect r="r" b="b" t="t" l="l"/>
            <a:pathLst>
              <a:path h="2285553" w="5251331">
                <a:moveTo>
                  <a:pt x="0" y="0"/>
                </a:moveTo>
                <a:lnTo>
                  <a:pt x="5251331" y="0"/>
                </a:lnTo>
                <a:lnTo>
                  <a:pt x="5251331" y="2285553"/>
                </a:lnTo>
                <a:lnTo>
                  <a:pt x="0" y="22855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57292" y="6312249"/>
            <a:ext cx="5329815" cy="2379052"/>
          </a:xfrm>
          <a:custGeom>
            <a:avLst/>
            <a:gdLst/>
            <a:ahLst/>
            <a:cxnLst/>
            <a:rect r="r" b="b" t="t" l="l"/>
            <a:pathLst>
              <a:path h="2379052" w="5329815">
                <a:moveTo>
                  <a:pt x="0" y="0"/>
                </a:moveTo>
                <a:lnTo>
                  <a:pt x="5329815" y="0"/>
                </a:lnTo>
                <a:lnTo>
                  <a:pt x="5329815" y="2379053"/>
                </a:lnTo>
                <a:lnTo>
                  <a:pt x="0" y="23790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10601" y="9648825"/>
            <a:ext cx="1191219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FEFEFE"/>
                </a:solidFill>
                <a:latin typeface="Questrial"/>
                <a:ea typeface="Questrial"/>
                <a:cs typeface="Questrial"/>
                <a:sym typeface="Questrial"/>
              </a:rPr>
              <a:t>Fuente: VIII Encuesta de Microemprendimiento 2025 · Ministerio de Economía e INE</a:t>
            </a:r>
          </a:p>
          <a:p>
            <a:pPr algn="just">
              <a:lnSpc>
                <a:spcPts val="252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622323" y="173079"/>
            <a:ext cx="6990177" cy="1246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0"/>
              </a:lnSpc>
              <a:spcBef>
                <a:spcPct val="0"/>
              </a:spcBef>
            </a:pPr>
            <a:r>
              <a:rPr lang="en-US" sz="3854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El tiempo no es un detalle, </a:t>
            </a:r>
          </a:p>
          <a:p>
            <a:pPr algn="ctr">
              <a:lnSpc>
                <a:spcPts val="5010"/>
              </a:lnSpc>
              <a:spcBef>
                <a:spcPct val="0"/>
              </a:spcBef>
            </a:pPr>
            <a:r>
              <a:rPr lang="en-US" sz="3854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es parte del problema.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1495580" y="7071803"/>
            <a:ext cx="5923247" cy="3338557"/>
          </a:xfrm>
          <a:custGeom>
            <a:avLst/>
            <a:gdLst/>
            <a:ahLst/>
            <a:cxnLst/>
            <a:rect r="r" b="b" t="t" l="l"/>
            <a:pathLst>
              <a:path h="3338557" w="5923247">
                <a:moveTo>
                  <a:pt x="5923246" y="0"/>
                </a:moveTo>
                <a:lnTo>
                  <a:pt x="0" y="0"/>
                </a:lnTo>
                <a:lnTo>
                  <a:pt x="0" y="3338557"/>
                </a:lnTo>
                <a:lnTo>
                  <a:pt x="5923246" y="3338557"/>
                </a:lnTo>
                <a:lnTo>
                  <a:pt x="59232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14946" y="7040202"/>
            <a:ext cx="5923247" cy="3338557"/>
          </a:xfrm>
          <a:custGeom>
            <a:avLst/>
            <a:gdLst/>
            <a:ahLst/>
            <a:cxnLst/>
            <a:rect r="r" b="b" t="t" l="l"/>
            <a:pathLst>
              <a:path h="3338557" w="5923247">
                <a:moveTo>
                  <a:pt x="0" y="0"/>
                </a:moveTo>
                <a:lnTo>
                  <a:pt x="5923246" y="0"/>
                </a:lnTo>
                <a:lnTo>
                  <a:pt x="5923246" y="3338557"/>
                </a:lnTo>
                <a:lnTo>
                  <a:pt x="0" y="333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9732" y="3317106"/>
            <a:ext cx="4698224" cy="7369763"/>
          </a:xfrm>
          <a:custGeom>
            <a:avLst/>
            <a:gdLst/>
            <a:ahLst/>
            <a:cxnLst/>
            <a:rect r="r" b="b" t="t" l="l"/>
            <a:pathLst>
              <a:path h="7369763" w="4698224">
                <a:moveTo>
                  <a:pt x="0" y="0"/>
                </a:moveTo>
                <a:lnTo>
                  <a:pt x="4698224" y="0"/>
                </a:lnTo>
                <a:lnTo>
                  <a:pt x="4698224" y="7369763"/>
                </a:lnTo>
                <a:lnTo>
                  <a:pt x="0" y="7369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97147" y="3355321"/>
            <a:ext cx="4698224" cy="7369763"/>
          </a:xfrm>
          <a:custGeom>
            <a:avLst/>
            <a:gdLst/>
            <a:ahLst/>
            <a:cxnLst/>
            <a:rect r="r" b="b" t="t" l="l"/>
            <a:pathLst>
              <a:path h="7369763" w="4698224">
                <a:moveTo>
                  <a:pt x="0" y="0"/>
                </a:moveTo>
                <a:lnTo>
                  <a:pt x="4698224" y="0"/>
                </a:lnTo>
                <a:lnTo>
                  <a:pt x="4698224" y="7369763"/>
                </a:lnTo>
                <a:lnTo>
                  <a:pt x="0" y="7369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83142" y="3355321"/>
            <a:ext cx="4698224" cy="7369763"/>
          </a:xfrm>
          <a:custGeom>
            <a:avLst/>
            <a:gdLst/>
            <a:ahLst/>
            <a:cxnLst/>
            <a:rect r="r" b="b" t="t" l="l"/>
            <a:pathLst>
              <a:path h="7369763" w="4698224">
                <a:moveTo>
                  <a:pt x="0" y="0"/>
                </a:moveTo>
                <a:lnTo>
                  <a:pt x="4698223" y="0"/>
                </a:lnTo>
                <a:lnTo>
                  <a:pt x="4698223" y="7369763"/>
                </a:lnTo>
                <a:lnTo>
                  <a:pt x="0" y="73697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110309" y="3673509"/>
            <a:ext cx="3825915" cy="4608960"/>
            <a:chOff x="0" y="0"/>
            <a:chExt cx="1007648" cy="12138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7648" cy="1213882"/>
            </a:xfrm>
            <a:custGeom>
              <a:avLst/>
              <a:gdLst/>
              <a:ahLst/>
              <a:cxnLst/>
              <a:rect r="r" b="b" t="t" l="l"/>
              <a:pathLst>
                <a:path h="1213882" w="1007648">
                  <a:moveTo>
                    <a:pt x="0" y="0"/>
                  </a:moveTo>
                  <a:lnTo>
                    <a:pt x="1007648" y="0"/>
                  </a:lnTo>
                  <a:lnTo>
                    <a:pt x="1007648" y="1213882"/>
                  </a:lnTo>
                  <a:lnTo>
                    <a:pt x="0" y="1213882"/>
                  </a:lnTo>
                  <a:close/>
                </a:path>
              </a:pathLst>
            </a:custGeom>
            <a:solidFill>
              <a:srgbClr val="FFEE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07648" cy="1242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1042" y="3730089"/>
            <a:ext cx="3980574" cy="4552380"/>
            <a:chOff x="0" y="0"/>
            <a:chExt cx="1048382" cy="11989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382" cy="1198981"/>
            </a:xfrm>
            <a:custGeom>
              <a:avLst/>
              <a:gdLst/>
              <a:ahLst/>
              <a:cxnLst/>
              <a:rect r="r" b="b" t="t" l="l"/>
              <a:pathLst>
                <a:path h="1198981" w="1048382">
                  <a:moveTo>
                    <a:pt x="0" y="0"/>
                  </a:moveTo>
                  <a:lnTo>
                    <a:pt x="1048382" y="0"/>
                  </a:lnTo>
                  <a:lnTo>
                    <a:pt x="1048382" y="1198981"/>
                  </a:lnTo>
                  <a:lnTo>
                    <a:pt x="0" y="1198981"/>
                  </a:lnTo>
                  <a:close/>
                </a:path>
              </a:pathLst>
            </a:custGeom>
            <a:solidFill>
              <a:srgbClr val="FFEE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48382" cy="1227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419296" y="3795496"/>
            <a:ext cx="3825915" cy="4608960"/>
            <a:chOff x="0" y="0"/>
            <a:chExt cx="1007648" cy="12138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7648" cy="1213882"/>
            </a:xfrm>
            <a:custGeom>
              <a:avLst/>
              <a:gdLst/>
              <a:ahLst/>
              <a:cxnLst/>
              <a:rect r="r" b="b" t="t" l="l"/>
              <a:pathLst>
                <a:path h="1213882" w="1007648">
                  <a:moveTo>
                    <a:pt x="0" y="0"/>
                  </a:moveTo>
                  <a:lnTo>
                    <a:pt x="1007648" y="0"/>
                  </a:lnTo>
                  <a:lnTo>
                    <a:pt x="1007648" y="1213882"/>
                  </a:lnTo>
                  <a:lnTo>
                    <a:pt x="0" y="1213882"/>
                  </a:lnTo>
                  <a:close/>
                </a:path>
              </a:pathLst>
            </a:custGeom>
            <a:solidFill>
              <a:srgbClr val="FFEEE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007648" cy="1242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3753437">
            <a:off x="-886976" y="3363617"/>
            <a:ext cx="1541477" cy="1948994"/>
          </a:xfrm>
          <a:custGeom>
            <a:avLst/>
            <a:gdLst/>
            <a:ahLst/>
            <a:cxnLst/>
            <a:rect r="r" b="b" t="t" l="l"/>
            <a:pathLst>
              <a:path h="1948994" w="1541477">
                <a:moveTo>
                  <a:pt x="0" y="0"/>
                </a:moveTo>
                <a:lnTo>
                  <a:pt x="1541477" y="0"/>
                </a:lnTo>
                <a:lnTo>
                  <a:pt x="1541477" y="1948994"/>
                </a:lnTo>
                <a:lnTo>
                  <a:pt x="0" y="19489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304750">
            <a:off x="-324726" y="-1283194"/>
            <a:ext cx="2029780" cy="2566388"/>
          </a:xfrm>
          <a:custGeom>
            <a:avLst/>
            <a:gdLst/>
            <a:ahLst/>
            <a:cxnLst/>
            <a:rect r="r" b="b" t="t" l="l"/>
            <a:pathLst>
              <a:path h="2566388" w="2029780">
                <a:moveTo>
                  <a:pt x="0" y="0"/>
                </a:moveTo>
                <a:lnTo>
                  <a:pt x="2029779" y="0"/>
                </a:lnTo>
                <a:lnTo>
                  <a:pt x="2029779" y="2566388"/>
                </a:lnTo>
                <a:lnTo>
                  <a:pt x="0" y="25663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000185">
            <a:off x="16968083" y="-741904"/>
            <a:ext cx="2280682" cy="2280682"/>
          </a:xfrm>
          <a:custGeom>
            <a:avLst/>
            <a:gdLst/>
            <a:ahLst/>
            <a:cxnLst/>
            <a:rect r="r" b="b" t="t" l="l"/>
            <a:pathLst>
              <a:path h="2280682" w="2280682">
                <a:moveTo>
                  <a:pt x="0" y="0"/>
                </a:moveTo>
                <a:lnTo>
                  <a:pt x="2280683" y="0"/>
                </a:lnTo>
                <a:lnTo>
                  <a:pt x="2280683" y="2280682"/>
                </a:lnTo>
                <a:lnTo>
                  <a:pt x="0" y="22806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9207308">
            <a:off x="17162263" y="3060799"/>
            <a:ext cx="769353" cy="972745"/>
          </a:xfrm>
          <a:custGeom>
            <a:avLst/>
            <a:gdLst/>
            <a:ahLst/>
            <a:cxnLst/>
            <a:rect r="r" b="b" t="t" l="l"/>
            <a:pathLst>
              <a:path h="972745" w="769353">
                <a:moveTo>
                  <a:pt x="0" y="0"/>
                </a:moveTo>
                <a:lnTo>
                  <a:pt x="769353" y="0"/>
                </a:lnTo>
                <a:lnTo>
                  <a:pt x="769353" y="972746"/>
                </a:lnTo>
                <a:lnTo>
                  <a:pt x="0" y="972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413602" y="481976"/>
            <a:ext cx="1077544" cy="1093449"/>
          </a:xfrm>
          <a:custGeom>
            <a:avLst/>
            <a:gdLst/>
            <a:ahLst/>
            <a:cxnLst/>
            <a:rect r="r" b="b" t="t" l="l"/>
            <a:pathLst>
              <a:path h="1093449" w="1077544">
                <a:moveTo>
                  <a:pt x="0" y="0"/>
                </a:moveTo>
                <a:lnTo>
                  <a:pt x="1077544" y="0"/>
                </a:lnTo>
                <a:lnTo>
                  <a:pt x="1077544" y="1093448"/>
                </a:lnTo>
                <a:lnTo>
                  <a:pt x="0" y="1093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93644" y="1815476"/>
            <a:ext cx="1077544" cy="1093449"/>
          </a:xfrm>
          <a:custGeom>
            <a:avLst/>
            <a:gdLst/>
            <a:ahLst/>
            <a:cxnLst/>
            <a:rect r="r" b="b" t="t" l="l"/>
            <a:pathLst>
              <a:path h="1093449" w="1077544">
                <a:moveTo>
                  <a:pt x="0" y="0"/>
                </a:moveTo>
                <a:lnTo>
                  <a:pt x="1077544" y="0"/>
                </a:lnTo>
                <a:lnTo>
                  <a:pt x="1077544" y="1093448"/>
                </a:lnTo>
                <a:lnTo>
                  <a:pt x="0" y="10934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451867" y="388912"/>
            <a:ext cx="9388784" cy="3103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7"/>
              </a:lnSpc>
            </a:pPr>
            <a:r>
              <a:rPr lang="en-US" sz="6806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No todos los mensajes terminan en una cita</a:t>
            </a:r>
          </a:p>
          <a:p>
            <a:pPr algn="ctr">
              <a:lnSpc>
                <a:spcPts val="8167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7599900" y="5471232"/>
            <a:ext cx="309271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299">
                <a:solidFill>
                  <a:srgbClr val="A03F2E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2299">
                <a:solidFill>
                  <a:srgbClr val="A03F2E"/>
                </a:solidFill>
                <a:latin typeface="Gotham"/>
                <a:ea typeface="Gotham"/>
                <a:cs typeface="Gotham"/>
                <a:sym typeface="Gotham"/>
              </a:rPr>
              <a:t>oordina precio, hora y ubicación</a:t>
            </a:r>
          </a:p>
          <a:p>
            <a:pPr algn="ctr">
              <a:lnSpc>
                <a:spcPts val="275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897122" y="7684930"/>
            <a:ext cx="462685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A03F2E"/>
                </a:solidFill>
                <a:latin typeface="Gotham Bold"/>
                <a:ea typeface="Gotham Bold"/>
                <a:cs typeface="Gotham Bold"/>
                <a:sym typeface="Gotham Bold"/>
              </a:rPr>
              <a:t>Tiempo de gestión sin reserva</a:t>
            </a:r>
          </a:p>
          <a:p>
            <a:pPr algn="ctr">
              <a:lnSpc>
                <a:spcPts val="240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2274014" y="4407550"/>
            <a:ext cx="3629660" cy="29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b="true" sz="1900">
                <a:solidFill>
                  <a:srgbClr val="EB436E"/>
                </a:solidFill>
                <a:latin typeface="Gotham Bold"/>
                <a:ea typeface="Gotham Bold"/>
                <a:cs typeface="Gotham Bold"/>
                <a:sym typeface="Gotham Bold"/>
              </a:rPr>
              <a:t>NO ALCANZA A RESPONDER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274014" y="5442657"/>
            <a:ext cx="3392378" cy="83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1"/>
              </a:lnSpc>
              <a:spcBef>
                <a:spcPct val="0"/>
              </a:spcBef>
            </a:pPr>
            <a:r>
              <a:rPr lang="en-US" sz="2562">
                <a:solidFill>
                  <a:srgbClr val="A03F2E"/>
                </a:solidFill>
                <a:latin typeface="Gotham"/>
                <a:ea typeface="Gotham"/>
                <a:cs typeface="Gotham"/>
                <a:sym typeface="Gotham"/>
              </a:rPr>
              <a:t>Una consulta queda pendiente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110309" y="6578125"/>
            <a:ext cx="382591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A03F2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↓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5812" y="7675405"/>
            <a:ext cx="647491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  <a:spcBef>
                <a:spcPct val="0"/>
              </a:spcBef>
            </a:pPr>
            <a:r>
              <a:rPr lang="en-US" b="true" sz="2100">
                <a:solidFill>
                  <a:srgbClr val="A03F2E"/>
                </a:solidFill>
                <a:latin typeface="Gotham Bold"/>
                <a:ea typeface="Gotham Bold"/>
                <a:cs typeface="Gotham Bold"/>
                <a:sym typeface="Gotham Bold"/>
              </a:rPr>
              <a:t>Posible oportunidad perdida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65764" y="4319064"/>
            <a:ext cx="2556472" cy="882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1900" b="true">
                <a:solidFill>
                  <a:srgbClr val="EB436E"/>
                </a:solidFill>
                <a:latin typeface="Gotham Bold"/>
                <a:ea typeface="Gotham Bold"/>
                <a:cs typeface="Gotham Bold"/>
                <a:sym typeface="Gotham Bold"/>
              </a:rPr>
              <a:t>RESPONDE, PERO NO SE CONCRETA</a:t>
            </a:r>
          </a:p>
          <a:p>
            <a:pPr algn="ctr">
              <a:lnSpc>
                <a:spcPts val="221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454162" y="4407550"/>
            <a:ext cx="3756184" cy="60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  <a:spcBef>
                <a:spcPct val="0"/>
              </a:spcBef>
            </a:pPr>
            <a:r>
              <a:rPr lang="en-US" b="true" sz="1900">
                <a:solidFill>
                  <a:srgbClr val="EB436E"/>
                </a:solidFill>
                <a:latin typeface="Gotham Bold"/>
                <a:ea typeface="Gotham Bold"/>
                <a:cs typeface="Gotham Bold"/>
                <a:sym typeface="Gotham Bold"/>
              </a:rPr>
              <a:t>SE</a:t>
            </a:r>
            <a:r>
              <a:rPr lang="en-US" b="true" sz="1900">
                <a:solidFill>
                  <a:srgbClr val="EB436E"/>
                </a:solidFill>
                <a:latin typeface="Gotham Bold"/>
                <a:ea typeface="Gotham Bold"/>
                <a:cs typeface="Gotham Bold"/>
                <a:sym typeface="Gotham Bold"/>
              </a:rPr>
              <a:t> AGENDA, PERO NO ASISTE</a:t>
            </a:r>
          </a:p>
          <a:p>
            <a:pPr algn="ctr">
              <a:lnSpc>
                <a:spcPts val="2470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7231042" y="6578125"/>
            <a:ext cx="382591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A03F2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↓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93424" y="5502261"/>
            <a:ext cx="309271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A03F2E"/>
                </a:solidFill>
                <a:latin typeface="Gotham"/>
                <a:ea typeface="Gotham"/>
                <a:cs typeface="Gotham"/>
                <a:sym typeface="Gotham"/>
              </a:rPr>
              <a:t>L</a:t>
            </a:r>
            <a:r>
              <a:rPr lang="en-US" sz="2499">
                <a:solidFill>
                  <a:srgbClr val="A03F2E"/>
                </a:solidFill>
                <a:latin typeface="Gotham"/>
                <a:ea typeface="Gotham"/>
                <a:cs typeface="Gotham"/>
                <a:sym typeface="Gotham"/>
              </a:rPr>
              <a:t>a hora ya estaba reservada</a:t>
            </a:r>
          </a:p>
          <a:p>
            <a:pPr algn="ctr">
              <a:lnSpc>
                <a:spcPts val="299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2419296" y="6659872"/>
            <a:ext cx="3825915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600">
                <a:solidFill>
                  <a:srgbClr val="A03F2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↓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62041" y="7684930"/>
            <a:ext cx="462685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A03F2E"/>
                </a:solidFill>
                <a:latin typeface="Gotham Bold"/>
                <a:ea typeface="Gotham Bold"/>
                <a:cs typeface="Gotham Bold"/>
                <a:sym typeface="Gotham Bold"/>
              </a:rPr>
              <a:t>Hora potencialmente vacía</a:t>
            </a:r>
          </a:p>
          <a:p>
            <a:pPr algn="ctr">
              <a:lnSpc>
                <a:spcPts val="2400"/>
              </a:lnSpc>
            </a:pPr>
          </a:p>
          <a:p>
            <a:pPr algn="ctr">
              <a:lnSpc>
                <a:spcPts val="24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56943" y="0"/>
            <a:ext cx="14513887" cy="10885415"/>
          </a:xfrm>
          <a:custGeom>
            <a:avLst/>
            <a:gdLst/>
            <a:ahLst/>
            <a:cxnLst/>
            <a:rect r="r" b="b" t="t" l="l"/>
            <a:pathLst>
              <a:path h="10885415" w="14513887">
                <a:moveTo>
                  <a:pt x="0" y="0"/>
                </a:moveTo>
                <a:lnTo>
                  <a:pt x="14513886" y="0"/>
                </a:lnTo>
                <a:lnTo>
                  <a:pt x="14513886" y="10885415"/>
                </a:lnTo>
                <a:lnTo>
                  <a:pt x="0" y="10885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438" y="5705656"/>
            <a:ext cx="6199593" cy="5044918"/>
          </a:xfrm>
          <a:custGeom>
            <a:avLst/>
            <a:gdLst/>
            <a:ahLst/>
            <a:cxnLst/>
            <a:rect r="r" b="b" t="t" l="l"/>
            <a:pathLst>
              <a:path h="5044918" w="6199593">
                <a:moveTo>
                  <a:pt x="6199593" y="0"/>
                </a:moveTo>
                <a:lnTo>
                  <a:pt x="0" y="0"/>
                </a:lnTo>
                <a:lnTo>
                  <a:pt x="0" y="5044918"/>
                </a:lnTo>
                <a:lnTo>
                  <a:pt x="6199593" y="5044918"/>
                </a:lnTo>
                <a:lnTo>
                  <a:pt x="61995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60970" y="3994907"/>
            <a:ext cx="8929050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¿Y si reservar no dependiera de que la emprendedora estuviera disponible para responder?</a:t>
            </a:r>
          </a:p>
          <a:p>
            <a:pPr algn="ctr">
              <a:lnSpc>
                <a:spcPts val="57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6785390">
            <a:off x="17071027" y="-587194"/>
            <a:ext cx="2433946" cy="3077403"/>
          </a:xfrm>
          <a:custGeom>
            <a:avLst/>
            <a:gdLst/>
            <a:ahLst/>
            <a:cxnLst/>
            <a:rect r="r" b="b" t="t" l="l"/>
            <a:pathLst>
              <a:path h="3077403" w="2433946">
                <a:moveTo>
                  <a:pt x="0" y="0"/>
                </a:moveTo>
                <a:lnTo>
                  <a:pt x="2433946" y="0"/>
                </a:lnTo>
                <a:lnTo>
                  <a:pt x="2433946" y="3077403"/>
                </a:lnTo>
                <a:lnTo>
                  <a:pt x="0" y="3077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01448" y="1028700"/>
            <a:ext cx="1077544" cy="1093449"/>
          </a:xfrm>
          <a:custGeom>
            <a:avLst/>
            <a:gdLst/>
            <a:ahLst/>
            <a:cxnLst/>
            <a:rect r="r" b="b" t="t" l="l"/>
            <a:pathLst>
              <a:path h="1093449" w="1077544">
                <a:moveTo>
                  <a:pt x="0" y="0"/>
                </a:moveTo>
                <a:lnTo>
                  <a:pt x="1077544" y="0"/>
                </a:lnTo>
                <a:lnTo>
                  <a:pt x="1077544" y="1093449"/>
                </a:lnTo>
                <a:lnTo>
                  <a:pt x="0" y="10934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41266" y="4104029"/>
            <a:ext cx="754599" cy="765737"/>
          </a:xfrm>
          <a:custGeom>
            <a:avLst/>
            <a:gdLst/>
            <a:ahLst/>
            <a:cxnLst/>
            <a:rect r="r" b="b" t="t" l="l"/>
            <a:pathLst>
              <a:path h="765737" w="754599">
                <a:moveTo>
                  <a:pt x="0" y="0"/>
                </a:moveTo>
                <a:lnTo>
                  <a:pt x="754598" y="0"/>
                </a:lnTo>
                <a:lnTo>
                  <a:pt x="754598" y="765736"/>
                </a:lnTo>
                <a:lnTo>
                  <a:pt x="0" y="7657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55416">
            <a:off x="13938721" y="7977646"/>
            <a:ext cx="8698559" cy="6523919"/>
          </a:xfrm>
          <a:custGeom>
            <a:avLst/>
            <a:gdLst/>
            <a:ahLst/>
            <a:cxnLst/>
            <a:rect r="r" b="b" t="t" l="l"/>
            <a:pathLst>
              <a:path h="6523919" w="8698559">
                <a:moveTo>
                  <a:pt x="0" y="0"/>
                </a:moveTo>
                <a:lnTo>
                  <a:pt x="8698558" y="0"/>
                </a:lnTo>
                <a:lnTo>
                  <a:pt x="8698558" y="6523919"/>
                </a:lnTo>
                <a:lnTo>
                  <a:pt x="0" y="6523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9199" y="4702033"/>
            <a:ext cx="15790101" cy="4556267"/>
            <a:chOff x="0" y="0"/>
            <a:chExt cx="4158710" cy="12000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58710" cy="1200004"/>
            </a:xfrm>
            <a:custGeom>
              <a:avLst/>
              <a:gdLst/>
              <a:ahLst/>
              <a:cxnLst/>
              <a:rect r="r" b="b" t="t" l="l"/>
              <a:pathLst>
                <a:path h="1200004" w="4158710">
                  <a:moveTo>
                    <a:pt x="22554" y="0"/>
                  </a:moveTo>
                  <a:lnTo>
                    <a:pt x="4136156" y="0"/>
                  </a:lnTo>
                  <a:cubicBezTo>
                    <a:pt x="4142137" y="0"/>
                    <a:pt x="4147874" y="2376"/>
                    <a:pt x="4152104" y="6606"/>
                  </a:cubicBezTo>
                  <a:cubicBezTo>
                    <a:pt x="4156334" y="10836"/>
                    <a:pt x="4158710" y="16572"/>
                    <a:pt x="4158710" y="22554"/>
                  </a:cubicBezTo>
                  <a:lnTo>
                    <a:pt x="4158710" y="1177451"/>
                  </a:lnTo>
                  <a:cubicBezTo>
                    <a:pt x="4158710" y="1183432"/>
                    <a:pt x="4156334" y="1189169"/>
                    <a:pt x="4152104" y="1193399"/>
                  </a:cubicBezTo>
                  <a:cubicBezTo>
                    <a:pt x="4147874" y="1197628"/>
                    <a:pt x="4142137" y="1200004"/>
                    <a:pt x="4136156" y="1200004"/>
                  </a:cubicBezTo>
                  <a:lnTo>
                    <a:pt x="22554" y="1200004"/>
                  </a:lnTo>
                  <a:cubicBezTo>
                    <a:pt x="16572" y="1200004"/>
                    <a:pt x="10836" y="1197628"/>
                    <a:pt x="6606" y="1193399"/>
                  </a:cubicBezTo>
                  <a:cubicBezTo>
                    <a:pt x="2376" y="1189169"/>
                    <a:pt x="0" y="1183432"/>
                    <a:pt x="0" y="1177451"/>
                  </a:cubicBezTo>
                  <a:lnTo>
                    <a:pt x="0" y="22554"/>
                  </a:lnTo>
                  <a:cubicBezTo>
                    <a:pt x="0" y="16572"/>
                    <a:pt x="2376" y="10836"/>
                    <a:pt x="6606" y="6606"/>
                  </a:cubicBezTo>
                  <a:cubicBezTo>
                    <a:pt x="10836" y="2376"/>
                    <a:pt x="16572" y="0"/>
                    <a:pt x="22554" y="0"/>
                  </a:cubicBezTo>
                  <a:close/>
                </a:path>
              </a:pathLst>
            </a:custGeom>
            <a:solidFill>
              <a:srgbClr val="C03C4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158710" cy="1228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055416">
            <a:off x="-3949958" y="-4134383"/>
            <a:ext cx="8698559" cy="6523919"/>
          </a:xfrm>
          <a:custGeom>
            <a:avLst/>
            <a:gdLst/>
            <a:ahLst/>
            <a:cxnLst/>
            <a:rect r="r" b="b" t="t" l="l"/>
            <a:pathLst>
              <a:path h="6523919" w="8698559">
                <a:moveTo>
                  <a:pt x="0" y="0"/>
                </a:moveTo>
                <a:lnTo>
                  <a:pt x="8698558" y="0"/>
                </a:lnTo>
                <a:lnTo>
                  <a:pt x="8698558" y="6523919"/>
                </a:lnTo>
                <a:lnTo>
                  <a:pt x="0" y="6523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69199" y="621135"/>
            <a:ext cx="4361068" cy="4555263"/>
          </a:xfrm>
          <a:custGeom>
            <a:avLst/>
            <a:gdLst/>
            <a:ahLst/>
            <a:cxnLst/>
            <a:rect r="r" b="b" t="t" l="l"/>
            <a:pathLst>
              <a:path h="4555263" w="4361068">
                <a:moveTo>
                  <a:pt x="0" y="0"/>
                </a:moveTo>
                <a:lnTo>
                  <a:pt x="4361069" y="0"/>
                </a:lnTo>
                <a:lnTo>
                  <a:pt x="4361069" y="4555264"/>
                </a:lnTo>
                <a:lnTo>
                  <a:pt x="0" y="45552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689297" y="5284632"/>
            <a:ext cx="2919032" cy="3391068"/>
            <a:chOff x="0" y="0"/>
            <a:chExt cx="546608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6"/>
              <a:stretch>
                <a:fillRect l="-22180" t="0" r="-2218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-970415" y="5411227"/>
            <a:ext cx="10334665" cy="282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0"/>
              </a:lnSpc>
            </a:pPr>
            <a:r>
              <a:rPr lang="en-US" sz="9600">
                <a:solidFill>
                  <a:srgbClr val="FFF6E6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MERAKI</a:t>
            </a:r>
          </a:p>
          <a:p>
            <a:pPr algn="ctr">
              <a:lnSpc>
                <a:spcPts val="11040"/>
              </a:lnSpc>
            </a:pP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0792377" y="5284632"/>
            <a:ext cx="2919032" cy="3391068"/>
            <a:chOff x="0" y="0"/>
            <a:chExt cx="546608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1374" r="0" b="-41374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3896858" y="5284632"/>
            <a:ext cx="2919032" cy="3391068"/>
            <a:chOff x="0" y="0"/>
            <a:chExt cx="546608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38261" cy="6348730"/>
            </a:xfrm>
            <a:custGeom>
              <a:avLst/>
              <a:gdLst/>
              <a:ahLst/>
              <a:cxnLst/>
              <a:rect r="r" b="b" t="t" l="l"/>
              <a:pathLst>
                <a:path h="6348730" w="5438261">
                  <a:moveTo>
                    <a:pt x="541909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20320"/>
                  </a:cubicBezTo>
                  <a:lnTo>
                    <a:pt x="0" y="6329680"/>
                  </a:lnTo>
                  <a:cubicBezTo>
                    <a:pt x="0" y="6339840"/>
                    <a:pt x="8890" y="6348730"/>
                    <a:pt x="19050" y="6348730"/>
                  </a:cubicBezTo>
                  <a:lnTo>
                    <a:pt x="5419090" y="6348730"/>
                  </a:lnTo>
                  <a:cubicBezTo>
                    <a:pt x="5429250" y="6348730"/>
                    <a:pt x="5438140" y="6339840"/>
                    <a:pt x="5438140" y="6329680"/>
                  </a:cubicBezTo>
                  <a:lnTo>
                    <a:pt x="5438140" y="20320"/>
                  </a:lnTo>
                  <a:cubicBezTo>
                    <a:pt x="5439410" y="8890"/>
                    <a:pt x="5430520" y="0"/>
                    <a:pt x="5419090" y="0"/>
                  </a:cubicBezTo>
                  <a:close/>
                  <a:moveTo>
                    <a:pt x="5137150" y="314960"/>
                  </a:moveTo>
                  <a:lnTo>
                    <a:pt x="5137150" y="4970780"/>
                  </a:lnTo>
                  <a:cubicBezTo>
                    <a:pt x="5137150" y="4980940"/>
                    <a:pt x="5128260" y="4989830"/>
                    <a:pt x="5118100" y="4989830"/>
                  </a:cubicBezTo>
                  <a:lnTo>
                    <a:pt x="266700" y="4989830"/>
                  </a:lnTo>
                  <a:cubicBezTo>
                    <a:pt x="256540" y="4989830"/>
                    <a:pt x="247650" y="4980940"/>
                    <a:pt x="247650" y="4970780"/>
                  </a:cubicBezTo>
                  <a:lnTo>
                    <a:pt x="247650" y="314960"/>
                  </a:lnTo>
                  <a:cubicBezTo>
                    <a:pt x="247650" y="304800"/>
                    <a:pt x="256540" y="295910"/>
                    <a:pt x="266700" y="295910"/>
                  </a:cubicBezTo>
                  <a:lnTo>
                    <a:pt x="5118100" y="295910"/>
                  </a:lnTo>
                  <a:cubicBezTo>
                    <a:pt x="5129530" y="294640"/>
                    <a:pt x="5137150" y="303530"/>
                    <a:pt x="5137150" y="314960"/>
                  </a:cubicBezTo>
                  <a:close/>
                </a:path>
              </a:pathLst>
            </a:custGeom>
            <a:solidFill>
              <a:srgbClr val="F2F1E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47650" y="294640"/>
              <a:ext cx="4889500" cy="4693920"/>
            </a:xfrm>
            <a:custGeom>
              <a:avLst/>
              <a:gdLst/>
              <a:ahLst/>
              <a:cxnLst/>
              <a:rect r="r" b="b" t="t" l="l"/>
              <a:pathLst>
                <a:path h="4693920" w="4889500">
                  <a:moveTo>
                    <a:pt x="4870450" y="0"/>
                  </a:moveTo>
                  <a:lnTo>
                    <a:pt x="19050" y="0"/>
                  </a:lnTo>
                  <a:cubicBezTo>
                    <a:pt x="8890" y="0"/>
                    <a:pt x="0" y="8890"/>
                    <a:pt x="0" y="19050"/>
                  </a:cubicBezTo>
                  <a:lnTo>
                    <a:pt x="0" y="4674870"/>
                  </a:lnTo>
                  <a:cubicBezTo>
                    <a:pt x="0" y="4686300"/>
                    <a:pt x="8890" y="4693920"/>
                    <a:pt x="19050" y="4693920"/>
                  </a:cubicBezTo>
                  <a:lnTo>
                    <a:pt x="4870450" y="4693920"/>
                  </a:lnTo>
                  <a:cubicBezTo>
                    <a:pt x="4880610" y="4693920"/>
                    <a:pt x="4889500" y="4685030"/>
                    <a:pt x="4889500" y="4674870"/>
                  </a:cubicBezTo>
                  <a:lnTo>
                    <a:pt x="4889500" y="20320"/>
                  </a:lnTo>
                  <a:cubicBezTo>
                    <a:pt x="4889500" y="8890"/>
                    <a:pt x="4881880" y="0"/>
                    <a:pt x="4870450" y="0"/>
                  </a:cubicBezTo>
                  <a:close/>
                </a:path>
              </a:pathLst>
            </a:custGeom>
            <a:blipFill>
              <a:blip r:embed="rId8"/>
              <a:stretch>
                <a:fillRect l="-22180" t="0" r="-2218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270" y="6350"/>
              <a:ext cx="5457190" cy="6342380"/>
            </a:xfrm>
            <a:custGeom>
              <a:avLst/>
              <a:gdLst/>
              <a:ahLst/>
              <a:cxnLst/>
              <a:rect r="r" b="b" t="t" l="l"/>
              <a:pathLst>
                <a:path h="6342380" w="5457190">
                  <a:moveTo>
                    <a:pt x="5137150" y="302260"/>
                  </a:moveTo>
                  <a:cubicBezTo>
                    <a:pt x="5137150" y="302260"/>
                    <a:pt x="5133340" y="290830"/>
                    <a:pt x="5119370" y="289560"/>
                  </a:cubicBezTo>
                  <a:lnTo>
                    <a:pt x="248920" y="289560"/>
                  </a:lnTo>
                  <a:cubicBezTo>
                    <a:pt x="240030" y="289560"/>
                    <a:pt x="228600" y="293370"/>
                    <a:pt x="228600" y="303530"/>
                  </a:cubicBezTo>
                  <a:lnTo>
                    <a:pt x="232410" y="312420"/>
                  </a:lnTo>
                  <a:cubicBezTo>
                    <a:pt x="236220" y="307340"/>
                    <a:pt x="242570" y="304800"/>
                    <a:pt x="248920" y="304800"/>
                  </a:cubicBezTo>
                  <a:lnTo>
                    <a:pt x="5123180" y="304800"/>
                  </a:lnTo>
                  <a:lnTo>
                    <a:pt x="5123180" y="4966970"/>
                  </a:lnTo>
                  <a:cubicBezTo>
                    <a:pt x="5123180" y="4973320"/>
                    <a:pt x="5120640" y="4979670"/>
                    <a:pt x="5115560" y="4983480"/>
                  </a:cubicBezTo>
                  <a:lnTo>
                    <a:pt x="5120640" y="4983480"/>
                  </a:lnTo>
                  <a:cubicBezTo>
                    <a:pt x="5129530" y="4983480"/>
                    <a:pt x="5137150" y="4975860"/>
                    <a:pt x="5137150" y="4966970"/>
                  </a:cubicBezTo>
                  <a:lnTo>
                    <a:pt x="5137150" y="302260"/>
                  </a:lnTo>
                  <a:close/>
                  <a:moveTo>
                    <a:pt x="5438140" y="6324600"/>
                  </a:moveTo>
                  <a:lnTo>
                    <a:pt x="20320" y="6324600"/>
                  </a:lnTo>
                  <a:lnTo>
                    <a:pt x="20320" y="12700"/>
                  </a:lnTo>
                  <a:lnTo>
                    <a:pt x="6350" y="0"/>
                  </a:lnTo>
                  <a:lnTo>
                    <a:pt x="5080" y="0"/>
                  </a:lnTo>
                  <a:cubicBezTo>
                    <a:pt x="2540" y="3810"/>
                    <a:pt x="0" y="7620"/>
                    <a:pt x="0" y="12700"/>
                  </a:cubicBezTo>
                  <a:lnTo>
                    <a:pt x="0" y="6323330"/>
                  </a:lnTo>
                  <a:cubicBezTo>
                    <a:pt x="0" y="6334760"/>
                    <a:pt x="8890" y="6342380"/>
                    <a:pt x="19050" y="6342380"/>
                  </a:cubicBezTo>
                  <a:lnTo>
                    <a:pt x="5444490" y="6342380"/>
                  </a:lnTo>
                  <a:cubicBezTo>
                    <a:pt x="5449570" y="6342380"/>
                    <a:pt x="5453380" y="6341110"/>
                    <a:pt x="5457190" y="6337300"/>
                  </a:cubicBezTo>
                  <a:lnTo>
                    <a:pt x="5438140" y="6324600"/>
                  </a:lnTo>
                  <a:close/>
                </a:path>
              </a:pathLst>
            </a:custGeom>
            <a:solidFill>
              <a:srgbClr val="3C3333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620" y="0"/>
              <a:ext cx="5458460" cy="6344920"/>
            </a:xfrm>
            <a:custGeom>
              <a:avLst/>
              <a:gdLst/>
              <a:ahLst/>
              <a:cxnLst/>
              <a:rect r="r" b="b" t="t" l="l"/>
              <a:pathLst>
                <a:path h="6344920" w="5458460">
                  <a:moveTo>
                    <a:pt x="5125720" y="4987290"/>
                  </a:moveTo>
                  <a:cubicBezTo>
                    <a:pt x="5121910" y="4992370"/>
                    <a:pt x="5116830" y="4994910"/>
                    <a:pt x="5110480" y="4994910"/>
                  </a:cubicBezTo>
                  <a:lnTo>
                    <a:pt x="243840" y="4994910"/>
                  </a:lnTo>
                  <a:cubicBezTo>
                    <a:pt x="237490" y="4994910"/>
                    <a:pt x="231140" y="4992370"/>
                    <a:pt x="227330" y="4986020"/>
                  </a:cubicBezTo>
                  <a:cubicBezTo>
                    <a:pt x="222250" y="4982210"/>
                    <a:pt x="219710" y="4977130"/>
                    <a:pt x="219710" y="4970780"/>
                  </a:cubicBezTo>
                  <a:lnTo>
                    <a:pt x="219710" y="314960"/>
                  </a:lnTo>
                  <a:cubicBezTo>
                    <a:pt x="219710" y="309880"/>
                    <a:pt x="222250" y="304800"/>
                    <a:pt x="226060" y="300990"/>
                  </a:cubicBezTo>
                  <a:lnTo>
                    <a:pt x="240030" y="311150"/>
                  </a:lnTo>
                  <a:lnTo>
                    <a:pt x="240030" y="4975860"/>
                  </a:lnTo>
                  <a:lnTo>
                    <a:pt x="5110480" y="4975860"/>
                  </a:lnTo>
                  <a:cubicBezTo>
                    <a:pt x="5113020" y="4975860"/>
                    <a:pt x="5115560" y="4974590"/>
                    <a:pt x="5116830" y="4974590"/>
                  </a:cubicBezTo>
                  <a:lnTo>
                    <a:pt x="5125720" y="4987290"/>
                  </a:lnTo>
                  <a:close/>
                  <a:moveTo>
                    <a:pt x="5458460" y="19050"/>
                  </a:moveTo>
                  <a:lnTo>
                    <a:pt x="5458460" y="6330950"/>
                  </a:lnTo>
                  <a:cubicBezTo>
                    <a:pt x="5458460" y="6336030"/>
                    <a:pt x="5455920" y="6341110"/>
                    <a:pt x="5450840" y="6344920"/>
                  </a:cubicBezTo>
                  <a:lnTo>
                    <a:pt x="5429250" y="6329680"/>
                  </a:lnTo>
                  <a:lnTo>
                    <a:pt x="5429250" y="20320"/>
                  </a:lnTo>
                  <a:lnTo>
                    <a:pt x="13970" y="20320"/>
                  </a:lnTo>
                  <a:lnTo>
                    <a:pt x="0" y="7620"/>
                  </a:lnTo>
                  <a:cubicBezTo>
                    <a:pt x="3810" y="2540"/>
                    <a:pt x="8890" y="0"/>
                    <a:pt x="15240" y="0"/>
                  </a:cubicBezTo>
                  <a:lnTo>
                    <a:pt x="5439410" y="0"/>
                  </a:lnTo>
                  <a:cubicBezTo>
                    <a:pt x="5449570" y="0"/>
                    <a:pt x="5458460" y="8890"/>
                    <a:pt x="5458460" y="19050"/>
                  </a:cubicBezTo>
                  <a:close/>
                  <a:moveTo>
                    <a:pt x="5455920" y="30480"/>
                  </a:moveTo>
                  <a:cubicBezTo>
                    <a:pt x="5453380" y="26670"/>
                    <a:pt x="5450840" y="24130"/>
                    <a:pt x="5447030" y="21590"/>
                  </a:cubicBezTo>
                  <a:lnTo>
                    <a:pt x="5455920" y="3048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-3753437">
            <a:off x="-998115" y="8417537"/>
            <a:ext cx="2665731" cy="3370465"/>
          </a:xfrm>
          <a:custGeom>
            <a:avLst/>
            <a:gdLst/>
            <a:ahLst/>
            <a:cxnLst/>
            <a:rect r="r" b="b" t="t" l="l"/>
            <a:pathLst>
              <a:path h="3370465" w="2665731">
                <a:moveTo>
                  <a:pt x="0" y="0"/>
                </a:moveTo>
                <a:lnTo>
                  <a:pt x="2665731" y="0"/>
                </a:lnTo>
                <a:lnTo>
                  <a:pt x="2665731" y="3370465"/>
                </a:lnTo>
                <a:lnTo>
                  <a:pt x="0" y="33704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true" rot="0">
            <a:off x="13313317" y="-549553"/>
            <a:ext cx="5600251" cy="3156505"/>
          </a:xfrm>
          <a:custGeom>
            <a:avLst/>
            <a:gdLst/>
            <a:ahLst/>
            <a:cxnLst/>
            <a:rect r="r" b="b" t="t" l="l"/>
            <a:pathLst>
              <a:path h="3156505" w="5600251">
                <a:moveTo>
                  <a:pt x="0" y="3156506"/>
                </a:moveTo>
                <a:lnTo>
                  <a:pt x="5600252" y="3156506"/>
                </a:lnTo>
                <a:lnTo>
                  <a:pt x="5600252" y="0"/>
                </a:lnTo>
                <a:lnTo>
                  <a:pt x="0" y="0"/>
                </a:lnTo>
                <a:lnTo>
                  <a:pt x="0" y="3156506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291496" y="621135"/>
            <a:ext cx="1077544" cy="1093449"/>
          </a:xfrm>
          <a:custGeom>
            <a:avLst/>
            <a:gdLst/>
            <a:ahLst/>
            <a:cxnLst/>
            <a:rect r="r" b="b" t="t" l="l"/>
            <a:pathLst>
              <a:path h="1093449" w="1077544">
                <a:moveTo>
                  <a:pt x="0" y="0"/>
                </a:moveTo>
                <a:lnTo>
                  <a:pt x="1077544" y="0"/>
                </a:lnTo>
                <a:lnTo>
                  <a:pt x="1077544" y="1093449"/>
                </a:lnTo>
                <a:lnTo>
                  <a:pt x="0" y="109344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832909" y="9686925"/>
            <a:ext cx="1918936" cy="1947259"/>
          </a:xfrm>
          <a:custGeom>
            <a:avLst/>
            <a:gdLst/>
            <a:ahLst/>
            <a:cxnLst/>
            <a:rect r="r" b="b" t="t" l="l"/>
            <a:pathLst>
              <a:path h="1947259" w="1918936">
                <a:moveTo>
                  <a:pt x="0" y="0"/>
                </a:moveTo>
                <a:lnTo>
                  <a:pt x="1918936" y="0"/>
                </a:lnTo>
                <a:lnTo>
                  <a:pt x="1918936" y="1947259"/>
                </a:lnTo>
                <a:lnTo>
                  <a:pt x="0" y="19472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065991" y="6970642"/>
            <a:ext cx="4261853" cy="154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sz="2525">
                <a:solidFill>
                  <a:srgbClr val="FEFEFE"/>
                </a:solidFill>
                <a:latin typeface="Questrial"/>
                <a:ea typeface="Questrial"/>
                <a:cs typeface="Questrial"/>
                <a:sym typeface="Questrial"/>
              </a:rPr>
              <a:t>Plataforma web para emprendedoras que ofrecen</a:t>
            </a:r>
          </a:p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sz="2525">
                <a:solidFill>
                  <a:srgbClr val="FEFEFE"/>
                </a:solidFill>
                <a:latin typeface="Questrial"/>
                <a:ea typeface="Questrial"/>
                <a:cs typeface="Questrial"/>
                <a:sym typeface="Questrial"/>
              </a:rPr>
              <a:t> servicios de estética y cuidado personal.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1921" y="5143500"/>
            <a:ext cx="7068059" cy="7772058"/>
          </a:xfrm>
          <a:custGeom>
            <a:avLst/>
            <a:gdLst/>
            <a:ahLst/>
            <a:cxnLst/>
            <a:rect r="r" b="b" t="t" l="l"/>
            <a:pathLst>
              <a:path h="7772058" w="7068059">
                <a:moveTo>
                  <a:pt x="0" y="0"/>
                </a:moveTo>
                <a:lnTo>
                  <a:pt x="7068059" y="0"/>
                </a:lnTo>
                <a:lnTo>
                  <a:pt x="7068059" y="7772058"/>
                </a:lnTo>
                <a:lnTo>
                  <a:pt x="0" y="77720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235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2741" y="4677705"/>
            <a:ext cx="5619781" cy="9496597"/>
          </a:xfrm>
          <a:custGeom>
            <a:avLst/>
            <a:gdLst/>
            <a:ahLst/>
            <a:cxnLst/>
            <a:rect r="r" b="b" t="t" l="l"/>
            <a:pathLst>
              <a:path h="9496597" w="5619781">
                <a:moveTo>
                  <a:pt x="0" y="0"/>
                </a:moveTo>
                <a:lnTo>
                  <a:pt x="5619782" y="0"/>
                </a:lnTo>
                <a:lnTo>
                  <a:pt x="5619782" y="9496598"/>
                </a:lnTo>
                <a:lnTo>
                  <a:pt x="0" y="9496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04478" y="2122452"/>
            <a:ext cx="9005178" cy="92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61"/>
              </a:lnSpc>
              <a:spcBef>
                <a:spcPct val="0"/>
              </a:spcBef>
            </a:pPr>
            <a:r>
              <a:rPr lang="en-US" sz="6313" strike="noStrike" u="none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Funcionalidades Clave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700700" y="0"/>
            <a:ext cx="13873275" cy="10404956"/>
          </a:xfrm>
          <a:custGeom>
            <a:avLst/>
            <a:gdLst/>
            <a:ahLst/>
            <a:cxnLst/>
            <a:rect r="r" b="b" t="t" l="l"/>
            <a:pathLst>
              <a:path h="10404956" w="13873275">
                <a:moveTo>
                  <a:pt x="0" y="0"/>
                </a:moveTo>
                <a:lnTo>
                  <a:pt x="13873276" y="0"/>
                </a:lnTo>
                <a:lnTo>
                  <a:pt x="13873276" y="10404956"/>
                </a:lnTo>
                <a:lnTo>
                  <a:pt x="0" y="10404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785390">
            <a:off x="-436717" y="-1009146"/>
            <a:ext cx="1596286" cy="2018292"/>
          </a:xfrm>
          <a:custGeom>
            <a:avLst/>
            <a:gdLst/>
            <a:ahLst/>
            <a:cxnLst/>
            <a:rect r="r" b="b" t="t" l="l"/>
            <a:pathLst>
              <a:path h="2018292" w="1596286">
                <a:moveTo>
                  <a:pt x="0" y="0"/>
                </a:moveTo>
                <a:lnTo>
                  <a:pt x="1596286" y="0"/>
                </a:lnTo>
                <a:lnTo>
                  <a:pt x="1596286" y="2018292"/>
                </a:lnTo>
                <a:lnTo>
                  <a:pt x="0" y="20182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64952" y="3225894"/>
            <a:ext cx="7543800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Características principales de la plataforma Meraki para emprendedoras de estética.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31208" y="5015282"/>
            <a:ext cx="1077544" cy="1093449"/>
          </a:xfrm>
          <a:custGeom>
            <a:avLst/>
            <a:gdLst/>
            <a:ahLst/>
            <a:cxnLst/>
            <a:rect r="r" b="b" t="t" l="l"/>
            <a:pathLst>
              <a:path h="1093449" w="1077544">
                <a:moveTo>
                  <a:pt x="0" y="0"/>
                </a:moveTo>
                <a:lnTo>
                  <a:pt x="1077544" y="0"/>
                </a:lnTo>
                <a:lnTo>
                  <a:pt x="1077544" y="1093449"/>
                </a:lnTo>
                <a:lnTo>
                  <a:pt x="0" y="10934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855225" y="1028700"/>
            <a:ext cx="9066093" cy="1183925"/>
            <a:chOff x="0" y="0"/>
            <a:chExt cx="10795000" cy="1409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50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0795000">
                  <a:moveTo>
                    <a:pt x="236220" y="0"/>
                  </a:moveTo>
                  <a:lnTo>
                    <a:pt x="10558780" y="0"/>
                  </a:lnTo>
                  <a:cubicBezTo>
                    <a:pt x="10689241" y="0"/>
                    <a:pt x="10795000" y="63114"/>
                    <a:pt x="10795000" y="140970"/>
                  </a:cubicBezTo>
                  <a:lnTo>
                    <a:pt x="10795000" y="1268730"/>
                  </a:lnTo>
                  <a:cubicBezTo>
                    <a:pt x="10795000" y="1346586"/>
                    <a:pt x="10689241" y="1409700"/>
                    <a:pt x="10558780" y="1409700"/>
                  </a:cubicBezTo>
                  <a:lnTo>
                    <a:pt x="236220" y="1409700"/>
                  </a:lnTo>
                  <a:cubicBezTo>
                    <a:pt x="173571" y="1409700"/>
                    <a:pt x="113487" y="1394848"/>
                    <a:pt x="69187" y="1368411"/>
                  </a:cubicBezTo>
                  <a:cubicBezTo>
                    <a:pt x="24887" y="1341974"/>
                    <a:pt x="0" y="1306118"/>
                    <a:pt x="0" y="1268730"/>
                  </a:cubicBezTo>
                  <a:lnTo>
                    <a:pt x="0" y="140970"/>
                  </a:lnTo>
                  <a:cubicBezTo>
                    <a:pt x="0" y="63114"/>
                    <a:pt x="105759" y="0"/>
                    <a:pt x="236220" y="0"/>
                  </a:cubicBezTo>
                  <a:close/>
                </a:path>
              </a:pathLst>
            </a:custGeom>
            <a:solidFill>
              <a:srgbClr val="E8DFF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795000" cy="141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0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068545" y="1196677"/>
            <a:ext cx="8639453" cy="5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9"/>
              </a:lnSpc>
              <a:spcBef>
                <a:spcPct val="0"/>
              </a:spcBef>
            </a:pPr>
            <a:r>
              <a:rPr lang="en-US" sz="3135" strike="noStrike" u="none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DISPONIBILIDAD VISIBLE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68545" y="1800074"/>
            <a:ext cx="8639453" cy="29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9"/>
              </a:lnSpc>
            </a:pPr>
            <a:r>
              <a:rPr lang="en-US" sz="1791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Las clientas ven en tiempo real los horarios libres de cada profesional.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55225" y="3225894"/>
            <a:ext cx="9066093" cy="1183925"/>
            <a:chOff x="0" y="0"/>
            <a:chExt cx="10795000" cy="1409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95000" cy="1409700"/>
            </a:xfrm>
            <a:custGeom>
              <a:avLst/>
              <a:gdLst/>
              <a:ahLst/>
              <a:cxnLst/>
              <a:rect r="r" b="b" t="t" l="l"/>
              <a:pathLst>
                <a:path h="1409700" w="10795000">
                  <a:moveTo>
                    <a:pt x="236220" y="0"/>
                  </a:moveTo>
                  <a:lnTo>
                    <a:pt x="10558780" y="0"/>
                  </a:lnTo>
                  <a:cubicBezTo>
                    <a:pt x="10689241" y="0"/>
                    <a:pt x="10795000" y="63114"/>
                    <a:pt x="10795000" y="140970"/>
                  </a:cubicBezTo>
                  <a:lnTo>
                    <a:pt x="10795000" y="1268730"/>
                  </a:lnTo>
                  <a:cubicBezTo>
                    <a:pt x="10795000" y="1346586"/>
                    <a:pt x="10689241" y="1409700"/>
                    <a:pt x="10558780" y="1409700"/>
                  </a:cubicBezTo>
                  <a:lnTo>
                    <a:pt x="236220" y="1409700"/>
                  </a:lnTo>
                  <a:cubicBezTo>
                    <a:pt x="173571" y="1409700"/>
                    <a:pt x="113487" y="1394848"/>
                    <a:pt x="69187" y="1368411"/>
                  </a:cubicBezTo>
                  <a:cubicBezTo>
                    <a:pt x="24887" y="1341974"/>
                    <a:pt x="0" y="1306118"/>
                    <a:pt x="0" y="1268730"/>
                  </a:cubicBezTo>
                  <a:lnTo>
                    <a:pt x="0" y="140970"/>
                  </a:lnTo>
                  <a:cubicBezTo>
                    <a:pt x="0" y="63114"/>
                    <a:pt x="105759" y="0"/>
                    <a:pt x="236220" y="0"/>
                  </a:cubicBezTo>
                  <a:close/>
                </a:path>
              </a:pathLst>
            </a:custGeom>
            <a:solidFill>
              <a:srgbClr val="F5D6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795000" cy="1419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0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068545" y="3393871"/>
            <a:ext cx="8639453" cy="5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9"/>
              </a:lnSpc>
              <a:spcBef>
                <a:spcPct val="0"/>
              </a:spcBef>
            </a:pPr>
            <a:r>
              <a:rPr lang="en-US" sz="3135" strike="noStrike" u="none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GEOLOCALIZACIÓN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68545" y="3997269"/>
            <a:ext cx="8639453" cy="29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9"/>
              </a:lnSpc>
            </a:pPr>
            <a:r>
              <a:rPr lang="en-US" sz="1791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Encuentra emprendedoras cercanas con un mapa interactivo.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55225" y="5423089"/>
            <a:ext cx="9066093" cy="1217576"/>
            <a:chOff x="0" y="0"/>
            <a:chExt cx="10795000" cy="14497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95000" cy="1449768"/>
            </a:xfrm>
            <a:custGeom>
              <a:avLst/>
              <a:gdLst/>
              <a:ahLst/>
              <a:cxnLst/>
              <a:rect r="r" b="b" t="t" l="l"/>
              <a:pathLst>
                <a:path h="1449768" w="10795000">
                  <a:moveTo>
                    <a:pt x="236220" y="0"/>
                  </a:moveTo>
                  <a:lnTo>
                    <a:pt x="10558780" y="0"/>
                  </a:lnTo>
                  <a:cubicBezTo>
                    <a:pt x="10689241" y="0"/>
                    <a:pt x="10795000" y="64908"/>
                    <a:pt x="10795000" y="144977"/>
                  </a:cubicBezTo>
                  <a:lnTo>
                    <a:pt x="10795000" y="1304791"/>
                  </a:lnTo>
                  <a:cubicBezTo>
                    <a:pt x="10795000" y="1384860"/>
                    <a:pt x="10689241" y="1449768"/>
                    <a:pt x="10558780" y="1449768"/>
                  </a:cubicBezTo>
                  <a:lnTo>
                    <a:pt x="236220" y="1449768"/>
                  </a:lnTo>
                  <a:cubicBezTo>
                    <a:pt x="173571" y="1449768"/>
                    <a:pt x="113487" y="1434494"/>
                    <a:pt x="69187" y="1407306"/>
                  </a:cubicBezTo>
                  <a:cubicBezTo>
                    <a:pt x="24887" y="1380117"/>
                    <a:pt x="0" y="1343242"/>
                    <a:pt x="0" y="1304791"/>
                  </a:cubicBezTo>
                  <a:lnTo>
                    <a:pt x="0" y="144977"/>
                  </a:lnTo>
                  <a:cubicBezTo>
                    <a:pt x="0" y="64908"/>
                    <a:pt x="105759" y="0"/>
                    <a:pt x="236220" y="0"/>
                  </a:cubicBezTo>
                  <a:close/>
                </a:path>
              </a:pathLst>
            </a:custGeom>
            <a:solidFill>
              <a:srgbClr val="D4EDD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0795000" cy="1459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0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068545" y="5591065"/>
            <a:ext cx="8639453" cy="5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9"/>
              </a:lnSpc>
              <a:spcBef>
                <a:spcPct val="0"/>
              </a:spcBef>
            </a:pPr>
            <a:r>
              <a:rPr lang="en-US" sz="3135" strike="noStrike" u="none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RESERVA DIRECTA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068545" y="6194463"/>
            <a:ext cx="8639453" cy="29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9"/>
              </a:lnSpc>
            </a:pPr>
            <a:r>
              <a:rPr lang="en-US" sz="1791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Agenda tu cita en segundos, sin mensajes ni llamadas.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855225" y="7620283"/>
            <a:ext cx="9066093" cy="1192857"/>
            <a:chOff x="0" y="0"/>
            <a:chExt cx="10795000" cy="142033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95000" cy="1420335"/>
            </a:xfrm>
            <a:custGeom>
              <a:avLst/>
              <a:gdLst/>
              <a:ahLst/>
              <a:cxnLst/>
              <a:rect r="r" b="b" t="t" l="l"/>
              <a:pathLst>
                <a:path h="1420335" w="10795000">
                  <a:moveTo>
                    <a:pt x="236220" y="0"/>
                  </a:moveTo>
                  <a:lnTo>
                    <a:pt x="10558780" y="0"/>
                  </a:lnTo>
                  <a:cubicBezTo>
                    <a:pt x="10689241" y="0"/>
                    <a:pt x="10795000" y="63591"/>
                    <a:pt x="10795000" y="142034"/>
                  </a:cubicBezTo>
                  <a:lnTo>
                    <a:pt x="10795000" y="1278302"/>
                  </a:lnTo>
                  <a:cubicBezTo>
                    <a:pt x="10795000" y="1356744"/>
                    <a:pt x="10689241" y="1420335"/>
                    <a:pt x="10558780" y="1420335"/>
                  </a:cubicBezTo>
                  <a:lnTo>
                    <a:pt x="236220" y="1420335"/>
                  </a:lnTo>
                  <a:cubicBezTo>
                    <a:pt x="173571" y="1420335"/>
                    <a:pt x="113487" y="1405371"/>
                    <a:pt x="69187" y="1378734"/>
                  </a:cubicBezTo>
                  <a:cubicBezTo>
                    <a:pt x="24887" y="1352098"/>
                    <a:pt x="0" y="1315971"/>
                    <a:pt x="0" y="1278302"/>
                  </a:cubicBezTo>
                  <a:lnTo>
                    <a:pt x="0" y="142034"/>
                  </a:lnTo>
                  <a:cubicBezTo>
                    <a:pt x="0" y="63591"/>
                    <a:pt x="105759" y="0"/>
                    <a:pt x="236220" y="0"/>
                  </a:cubicBezTo>
                  <a:close/>
                </a:path>
              </a:pathLst>
            </a:custGeom>
            <a:solidFill>
              <a:srgbClr val="E0D4F5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0795000" cy="1429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04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068545" y="7788260"/>
            <a:ext cx="8639453" cy="5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9"/>
              </a:lnSpc>
              <a:spcBef>
                <a:spcPct val="0"/>
              </a:spcBef>
            </a:pPr>
            <a:r>
              <a:rPr lang="en-US" sz="3135" strike="noStrike" u="none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ABONO DE RESERVA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68545" y="8391657"/>
            <a:ext cx="8639453" cy="293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9"/>
              </a:lnSpc>
            </a:pPr>
            <a:r>
              <a:rPr lang="en-US" sz="1791">
                <a:solidFill>
                  <a:srgbClr val="5B2A4A"/>
                </a:solidFill>
                <a:latin typeface="Questrial"/>
                <a:ea typeface="Questrial"/>
                <a:cs typeface="Questrial"/>
                <a:sym typeface="Questrial"/>
              </a:rPr>
              <a:t>Pago parcial al reservar para confirmar y reducir ausencias.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53915" y="-117956"/>
            <a:ext cx="13873275" cy="10404956"/>
          </a:xfrm>
          <a:custGeom>
            <a:avLst/>
            <a:gdLst/>
            <a:ahLst/>
            <a:cxnLst/>
            <a:rect r="r" b="b" t="t" l="l"/>
            <a:pathLst>
              <a:path h="10404956" w="13873275">
                <a:moveTo>
                  <a:pt x="0" y="0"/>
                </a:moveTo>
                <a:lnTo>
                  <a:pt x="13873275" y="0"/>
                </a:lnTo>
                <a:lnTo>
                  <a:pt x="13873275" y="10404956"/>
                </a:lnTo>
                <a:lnTo>
                  <a:pt x="0" y="104049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0675" y="2474543"/>
            <a:ext cx="6624124" cy="7812457"/>
          </a:xfrm>
          <a:custGeom>
            <a:avLst/>
            <a:gdLst/>
            <a:ahLst/>
            <a:cxnLst/>
            <a:rect r="r" b="b" t="t" l="l"/>
            <a:pathLst>
              <a:path h="7812457" w="6624124">
                <a:moveTo>
                  <a:pt x="0" y="0"/>
                </a:moveTo>
                <a:lnTo>
                  <a:pt x="6624123" y="0"/>
                </a:lnTo>
                <a:lnTo>
                  <a:pt x="6624123" y="7812457"/>
                </a:lnTo>
                <a:lnTo>
                  <a:pt x="0" y="78124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1963" y="1113119"/>
            <a:ext cx="10764164" cy="2822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02"/>
              </a:lnSpc>
            </a:pPr>
            <a:r>
              <a:rPr lang="en-US" sz="6437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Encont</a:t>
            </a:r>
            <a:r>
              <a:rPr lang="en-US" sz="6437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rar y reservar también genera visibilidad</a:t>
            </a:r>
          </a:p>
          <a:p>
            <a:pPr algn="ctr">
              <a:lnSpc>
                <a:spcPts val="7402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735099" y="4293073"/>
            <a:ext cx="3746664" cy="1036860"/>
            <a:chOff x="0" y="0"/>
            <a:chExt cx="986776" cy="2730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6776" cy="273082"/>
            </a:xfrm>
            <a:custGeom>
              <a:avLst/>
              <a:gdLst/>
              <a:ahLst/>
              <a:cxnLst/>
              <a:rect r="r" b="b" t="t" l="l"/>
              <a:pathLst>
                <a:path h="273082" w="986776">
                  <a:moveTo>
                    <a:pt x="136541" y="0"/>
                  </a:moveTo>
                  <a:lnTo>
                    <a:pt x="850235" y="0"/>
                  </a:lnTo>
                  <a:cubicBezTo>
                    <a:pt x="886448" y="0"/>
                    <a:pt x="921177" y="14386"/>
                    <a:pt x="946784" y="39992"/>
                  </a:cubicBezTo>
                  <a:cubicBezTo>
                    <a:pt x="972390" y="65598"/>
                    <a:pt x="986776" y="100328"/>
                    <a:pt x="986776" y="136541"/>
                  </a:cubicBezTo>
                  <a:lnTo>
                    <a:pt x="986776" y="136541"/>
                  </a:lnTo>
                  <a:cubicBezTo>
                    <a:pt x="986776" y="211951"/>
                    <a:pt x="925644" y="273082"/>
                    <a:pt x="850235" y="273082"/>
                  </a:cubicBezTo>
                  <a:lnTo>
                    <a:pt x="136541" y="273082"/>
                  </a:lnTo>
                  <a:cubicBezTo>
                    <a:pt x="61132" y="273082"/>
                    <a:pt x="0" y="211951"/>
                    <a:pt x="0" y="136541"/>
                  </a:cubicBezTo>
                  <a:lnTo>
                    <a:pt x="0" y="136541"/>
                  </a:lnTo>
                  <a:cubicBezTo>
                    <a:pt x="0" y="61132"/>
                    <a:pt x="61132" y="0"/>
                    <a:pt x="136541" y="0"/>
                  </a:cubicBezTo>
                  <a:close/>
                </a:path>
              </a:pathLst>
            </a:custGeom>
            <a:solidFill>
              <a:srgbClr val="FFDA02"/>
            </a:solidFill>
            <a:ln w="38100" cap="rnd">
              <a:solidFill>
                <a:srgbClr val="EB436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86776" cy="301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408950" y="4419438"/>
            <a:ext cx="2398961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9"/>
              </a:lnSpc>
            </a:pPr>
            <a:r>
              <a:rPr lang="en-US" sz="3799" spc="-75">
                <a:solidFill>
                  <a:srgbClr val="A03F2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C</a:t>
            </a:r>
            <a:r>
              <a:rPr lang="en-US" sz="3799" spc="-75">
                <a:solidFill>
                  <a:srgbClr val="A03F2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ercanía</a:t>
            </a:r>
          </a:p>
          <a:p>
            <a:pPr algn="ctr">
              <a:lnSpc>
                <a:spcPts val="49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116418" y="4365780"/>
            <a:ext cx="621206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Encu</a:t>
            </a:r>
            <a:r>
              <a:rPr lang="en-US" sz="2599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entra servicios cercanos,</a:t>
            </a:r>
          </a:p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revisa disponibilidad y reserva.</a:t>
            </a:r>
          </a:p>
          <a:p>
            <a:pPr algn="l">
              <a:lnSpc>
                <a:spcPts val="311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33773" y="7466965"/>
            <a:ext cx="3547989" cy="1081010"/>
            <a:chOff x="0" y="0"/>
            <a:chExt cx="934450" cy="284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4450" cy="284710"/>
            </a:xfrm>
            <a:custGeom>
              <a:avLst/>
              <a:gdLst/>
              <a:ahLst/>
              <a:cxnLst/>
              <a:rect r="r" b="b" t="t" l="l"/>
              <a:pathLst>
                <a:path h="284710" w="934450">
                  <a:moveTo>
                    <a:pt x="142355" y="0"/>
                  </a:moveTo>
                  <a:lnTo>
                    <a:pt x="792095" y="0"/>
                  </a:lnTo>
                  <a:cubicBezTo>
                    <a:pt x="870715" y="0"/>
                    <a:pt x="934450" y="63735"/>
                    <a:pt x="934450" y="142355"/>
                  </a:cubicBezTo>
                  <a:lnTo>
                    <a:pt x="934450" y="142355"/>
                  </a:lnTo>
                  <a:cubicBezTo>
                    <a:pt x="934450" y="180110"/>
                    <a:pt x="919452" y="216319"/>
                    <a:pt x="892755" y="243015"/>
                  </a:cubicBezTo>
                  <a:cubicBezTo>
                    <a:pt x="866058" y="269712"/>
                    <a:pt x="829850" y="284710"/>
                    <a:pt x="792095" y="284710"/>
                  </a:cubicBezTo>
                  <a:lnTo>
                    <a:pt x="142355" y="284710"/>
                  </a:lnTo>
                  <a:cubicBezTo>
                    <a:pt x="63735" y="284710"/>
                    <a:pt x="0" y="220976"/>
                    <a:pt x="0" y="142355"/>
                  </a:cubicBezTo>
                  <a:lnTo>
                    <a:pt x="0" y="142355"/>
                  </a:lnTo>
                  <a:cubicBezTo>
                    <a:pt x="0" y="63735"/>
                    <a:pt x="63735" y="0"/>
                    <a:pt x="142355" y="0"/>
                  </a:cubicBezTo>
                  <a:close/>
                </a:path>
              </a:pathLst>
            </a:custGeom>
            <a:solidFill>
              <a:srgbClr val="FFDA02"/>
            </a:solidFill>
            <a:ln w="38100" cap="rnd">
              <a:solidFill>
                <a:srgbClr val="EB436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934450" cy="313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839135" y="7600315"/>
            <a:ext cx="3737266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9"/>
              </a:lnSpc>
            </a:pPr>
            <a:r>
              <a:rPr lang="en-US" sz="3799" spc="-75">
                <a:solidFill>
                  <a:srgbClr val="A03F2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Visibilidad</a:t>
            </a:r>
          </a:p>
          <a:p>
            <a:pPr algn="ctr">
              <a:lnSpc>
                <a:spcPts val="493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116418" y="7575232"/>
            <a:ext cx="621206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Puede ser descubierta por nuevas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A03F2E"/>
                </a:solidFill>
                <a:latin typeface="Questrial"/>
                <a:ea typeface="Questrial"/>
                <a:cs typeface="Questrial"/>
                <a:sym typeface="Questrial"/>
              </a:rPr>
              <a:t>clientas de su sector.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-3575554">
            <a:off x="-1397029" y="8443992"/>
            <a:ext cx="3207880" cy="4055940"/>
          </a:xfrm>
          <a:custGeom>
            <a:avLst/>
            <a:gdLst/>
            <a:ahLst/>
            <a:cxnLst/>
            <a:rect r="r" b="b" t="t" l="l"/>
            <a:pathLst>
              <a:path h="4055940" w="3207880">
                <a:moveTo>
                  <a:pt x="0" y="0"/>
                </a:moveTo>
                <a:lnTo>
                  <a:pt x="3207880" y="0"/>
                </a:lnTo>
                <a:lnTo>
                  <a:pt x="3207880" y="4055941"/>
                </a:lnTo>
                <a:lnTo>
                  <a:pt x="0" y="40559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0">
            <a:off x="-429294" y="-502447"/>
            <a:ext cx="3543484" cy="1997237"/>
          </a:xfrm>
          <a:custGeom>
            <a:avLst/>
            <a:gdLst/>
            <a:ahLst/>
            <a:cxnLst/>
            <a:rect r="r" b="b" t="t" l="l"/>
            <a:pathLst>
              <a:path h="1997237" w="3543484">
                <a:moveTo>
                  <a:pt x="3543485" y="1997237"/>
                </a:moveTo>
                <a:lnTo>
                  <a:pt x="0" y="1997237"/>
                </a:lnTo>
                <a:lnTo>
                  <a:pt x="0" y="0"/>
                </a:lnTo>
                <a:lnTo>
                  <a:pt x="3543485" y="0"/>
                </a:lnTo>
                <a:lnTo>
                  <a:pt x="3543485" y="1997237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280501" y="403987"/>
            <a:ext cx="1231252" cy="1249425"/>
          </a:xfrm>
          <a:custGeom>
            <a:avLst/>
            <a:gdLst/>
            <a:ahLst/>
            <a:cxnLst/>
            <a:rect r="r" b="b" t="t" l="l"/>
            <a:pathLst>
              <a:path h="1249425" w="1231252">
                <a:moveTo>
                  <a:pt x="0" y="0"/>
                </a:moveTo>
                <a:lnTo>
                  <a:pt x="1231252" y="0"/>
                </a:lnTo>
                <a:lnTo>
                  <a:pt x="1231252" y="1249426"/>
                </a:lnTo>
                <a:lnTo>
                  <a:pt x="0" y="12494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086278" y="9258300"/>
            <a:ext cx="2484400" cy="2521070"/>
          </a:xfrm>
          <a:custGeom>
            <a:avLst/>
            <a:gdLst/>
            <a:ahLst/>
            <a:cxnLst/>
            <a:rect r="r" b="b" t="t" l="l"/>
            <a:pathLst>
              <a:path h="2521070" w="2484400">
                <a:moveTo>
                  <a:pt x="0" y="0"/>
                </a:moveTo>
                <a:lnTo>
                  <a:pt x="2484400" y="0"/>
                </a:lnTo>
                <a:lnTo>
                  <a:pt x="2484400" y="2521070"/>
                </a:lnTo>
                <a:lnTo>
                  <a:pt x="0" y="25210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212939" y="3888338"/>
            <a:ext cx="2790984" cy="39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  <a:spcBef>
                <a:spcPct val="0"/>
              </a:spcBef>
            </a:pPr>
            <a:r>
              <a:rPr lang="en-US" b="true" sz="2335">
                <a:solidFill>
                  <a:srgbClr val="A03F2E"/>
                </a:solidFill>
                <a:latin typeface="Gotham Bold"/>
                <a:ea typeface="Gotham Bold"/>
                <a:cs typeface="Gotham Bold"/>
                <a:sym typeface="Gotham Bold"/>
              </a:rPr>
              <a:t>PARA LA CLIENTA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33773" y="7111630"/>
            <a:ext cx="3767455" cy="35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9"/>
              </a:lnSpc>
              <a:spcBef>
                <a:spcPct val="0"/>
              </a:spcBef>
            </a:pPr>
            <a:r>
              <a:rPr lang="en-US" b="true" sz="2135">
                <a:solidFill>
                  <a:srgbClr val="A03F2E"/>
                </a:solidFill>
                <a:latin typeface="Gotham Bold"/>
                <a:ea typeface="Gotham Bold"/>
                <a:cs typeface="Gotham Bold"/>
                <a:sym typeface="Gotham Bold"/>
              </a:rPr>
              <a:t>PARA LA EMPRENDEDORA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5983" y="8041534"/>
            <a:ext cx="4381682" cy="2469675"/>
          </a:xfrm>
          <a:custGeom>
            <a:avLst/>
            <a:gdLst/>
            <a:ahLst/>
            <a:cxnLst/>
            <a:rect r="r" b="b" t="t" l="l"/>
            <a:pathLst>
              <a:path h="2469675" w="4381682">
                <a:moveTo>
                  <a:pt x="0" y="0"/>
                </a:moveTo>
                <a:lnTo>
                  <a:pt x="4381682" y="0"/>
                </a:lnTo>
                <a:lnTo>
                  <a:pt x="4381682" y="2469675"/>
                </a:lnTo>
                <a:lnTo>
                  <a:pt x="0" y="24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08480" y="7471898"/>
            <a:ext cx="1640440" cy="2815102"/>
          </a:xfrm>
          <a:custGeom>
            <a:avLst/>
            <a:gdLst/>
            <a:ahLst/>
            <a:cxnLst/>
            <a:rect r="r" b="b" t="t" l="l"/>
            <a:pathLst>
              <a:path h="2815102" w="1640440">
                <a:moveTo>
                  <a:pt x="1640440" y="0"/>
                </a:moveTo>
                <a:lnTo>
                  <a:pt x="0" y="0"/>
                </a:lnTo>
                <a:lnTo>
                  <a:pt x="0" y="2815102"/>
                </a:lnTo>
                <a:lnTo>
                  <a:pt x="1640440" y="2815102"/>
                </a:lnTo>
                <a:lnTo>
                  <a:pt x="16404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785390">
            <a:off x="16847088" y="-1231931"/>
            <a:ext cx="2433946" cy="3077403"/>
          </a:xfrm>
          <a:custGeom>
            <a:avLst/>
            <a:gdLst/>
            <a:ahLst/>
            <a:cxnLst/>
            <a:rect r="r" b="b" t="t" l="l"/>
            <a:pathLst>
              <a:path h="3077403" w="2433946">
                <a:moveTo>
                  <a:pt x="0" y="0"/>
                </a:moveTo>
                <a:lnTo>
                  <a:pt x="2433946" y="0"/>
                </a:lnTo>
                <a:lnTo>
                  <a:pt x="2433946" y="3077403"/>
                </a:lnTo>
                <a:lnTo>
                  <a:pt x="0" y="3077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8480" y="1831017"/>
            <a:ext cx="8717491" cy="4455607"/>
          </a:xfrm>
          <a:custGeom>
            <a:avLst/>
            <a:gdLst/>
            <a:ahLst/>
            <a:cxnLst/>
            <a:rect r="r" b="b" t="t" l="l"/>
            <a:pathLst>
              <a:path h="4455607" w="8717491">
                <a:moveTo>
                  <a:pt x="0" y="0"/>
                </a:moveTo>
                <a:lnTo>
                  <a:pt x="8717491" y="0"/>
                </a:lnTo>
                <a:lnTo>
                  <a:pt x="8717491" y="4455607"/>
                </a:lnTo>
                <a:lnTo>
                  <a:pt x="0" y="44556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266" t="-1168" r="-1286" b="-257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34628" y="4444778"/>
            <a:ext cx="9003489" cy="4582900"/>
          </a:xfrm>
          <a:custGeom>
            <a:avLst/>
            <a:gdLst/>
            <a:ahLst/>
            <a:cxnLst/>
            <a:rect r="r" b="b" t="t" l="l"/>
            <a:pathLst>
              <a:path h="4582900" w="9003489">
                <a:moveTo>
                  <a:pt x="0" y="0"/>
                </a:moveTo>
                <a:lnTo>
                  <a:pt x="9003489" y="0"/>
                </a:lnTo>
                <a:lnTo>
                  <a:pt x="9003489" y="4582900"/>
                </a:lnTo>
                <a:lnTo>
                  <a:pt x="0" y="458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63396" y="175516"/>
            <a:ext cx="8561208" cy="114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7"/>
              </a:lnSpc>
            </a:pPr>
            <a:r>
              <a:rPr lang="en-US" sz="7762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Mockcups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14946" y="7040202"/>
            <a:ext cx="5923247" cy="3338557"/>
          </a:xfrm>
          <a:custGeom>
            <a:avLst/>
            <a:gdLst/>
            <a:ahLst/>
            <a:cxnLst/>
            <a:rect r="r" b="b" t="t" l="l"/>
            <a:pathLst>
              <a:path h="3338557" w="5923247">
                <a:moveTo>
                  <a:pt x="0" y="0"/>
                </a:moveTo>
                <a:lnTo>
                  <a:pt x="5923246" y="0"/>
                </a:lnTo>
                <a:lnTo>
                  <a:pt x="5923246" y="3338557"/>
                </a:lnTo>
                <a:lnTo>
                  <a:pt x="0" y="333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618288">
            <a:off x="-3593007" y="8245046"/>
            <a:ext cx="8698559" cy="6523919"/>
          </a:xfrm>
          <a:custGeom>
            <a:avLst/>
            <a:gdLst/>
            <a:ahLst/>
            <a:cxnLst/>
            <a:rect r="r" b="b" t="t" l="l"/>
            <a:pathLst>
              <a:path h="6523919" w="8698559">
                <a:moveTo>
                  <a:pt x="0" y="0"/>
                </a:moveTo>
                <a:lnTo>
                  <a:pt x="8698559" y="0"/>
                </a:lnTo>
                <a:lnTo>
                  <a:pt x="8698559" y="6523919"/>
                </a:lnTo>
                <a:lnTo>
                  <a:pt x="0" y="652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618288">
            <a:off x="13878272" y="-4025689"/>
            <a:ext cx="8698559" cy="6523919"/>
          </a:xfrm>
          <a:custGeom>
            <a:avLst/>
            <a:gdLst/>
            <a:ahLst/>
            <a:cxnLst/>
            <a:rect r="r" b="b" t="t" l="l"/>
            <a:pathLst>
              <a:path h="6523919" w="8698559">
                <a:moveTo>
                  <a:pt x="0" y="0"/>
                </a:moveTo>
                <a:lnTo>
                  <a:pt x="8698558" y="0"/>
                </a:lnTo>
                <a:lnTo>
                  <a:pt x="8698558" y="6523919"/>
                </a:lnTo>
                <a:lnTo>
                  <a:pt x="0" y="652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955439">
            <a:off x="-192071" y="7446818"/>
            <a:ext cx="2773565" cy="2601373"/>
          </a:xfrm>
          <a:custGeom>
            <a:avLst/>
            <a:gdLst/>
            <a:ahLst/>
            <a:cxnLst/>
            <a:rect r="r" b="b" t="t" l="l"/>
            <a:pathLst>
              <a:path h="2601373" w="2773565">
                <a:moveTo>
                  <a:pt x="2773565" y="0"/>
                </a:moveTo>
                <a:lnTo>
                  <a:pt x="0" y="0"/>
                </a:lnTo>
                <a:lnTo>
                  <a:pt x="0" y="2601373"/>
                </a:lnTo>
                <a:lnTo>
                  <a:pt x="2773565" y="2601373"/>
                </a:lnTo>
                <a:lnTo>
                  <a:pt x="277356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1178611" y="-1185771"/>
            <a:ext cx="5600251" cy="3156505"/>
          </a:xfrm>
          <a:custGeom>
            <a:avLst/>
            <a:gdLst/>
            <a:ahLst/>
            <a:cxnLst/>
            <a:rect r="r" b="b" t="t" l="l"/>
            <a:pathLst>
              <a:path h="3156505" w="5600251">
                <a:moveTo>
                  <a:pt x="5600252" y="3156505"/>
                </a:moveTo>
                <a:lnTo>
                  <a:pt x="0" y="3156505"/>
                </a:lnTo>
                <a:lnTo>
                  <a:pt x="0" y="0"/>
                </a:lnTo>
                <a:lnTo>
                  <a:pt x="5600252" y="0"/>
                </a:lnTo>
                <a:lnTo>
                  <a:pt x="5600252" y="31565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78399">
            <a:off x="6776601" y="9512712"/>
            <a:ext cx="1576102" cy="1992773"/>
          </a:xfrm>
          <a:custGeom>
            <a:avLst/>
            <a:gdLst/>
            <a:ahLst/>
            <a:cxnLst/>
            <a:rect r="r" b="b" t="t" l="l"/>
            <a:pathLst>
              <a:path h="1992773" w="1576102">
                <a:moveTo>
                  <a:pt x="0" y="0"/>
                </a:moveTo>
                <a:lnTo>
                  <a:pt x="1576102" y="0"/>
                </a:lnTo>
                <a:lnTo>
                  <a:pt x="1576102" y="1992773"/>
                </a:lnTo>
                <a:lnTo>
                  <a:pt x="0" y="19927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7289" y="1602134"/>
            <a:ext cx="8947601" cy="4853963"/>
          </a:xfrm>
          <a:custGeom>
            <a:avLst/>
            <a:gdLst/>
            <a:ahLst/>
            <a:cxnLst/>
            <a:rect r="r" b="b" t="t" l="l"/>
            <a:pathLst>
              <a:path h="4853963" w="8947601">
                <a:moveTo>
                  <a:pt x="0" y="0"/>
                </a:moveTo>
                <a:lnTo>
                  <a:pt x="8947601" y="0"/>
                </a:lnTo>
                <a:lnTo>
                  <a:pt x="8947601" y="4853964"/>
                </a:lnTo>
                <a:lnTo>
                  <a:pt x="0" y="48539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81" t="0" r="-2362" b="-32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39571" y="4198343"/>
            <a:ext cx="9350749" cy="5374669"/>
          </a:xfrm>
          <a:custGeom>
            <a:avLst/>
            <a:gdLst/>
            <a:ahLst/>
            <a:cxnLst/>
            <a:rect r="r" b="b" t="t" l="l"/>
            <a:pathLst>
              <a:path h="5374669" w="9350749">
                <a:moveTo>
                  <a:pt x="0" y="0"/>
                </a:moveTo>
                <a:lnTo>
                  <a:pt x="9350749" y="0"/>
                </a:lnTo>
                <a:lnTo>
                  <a:pt x="9350749" y="5374669"/>
                </a:lnTo>
                <a:lnTo>
                  <a:pt x="0" y="53746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881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81473" y="1874907"/>
            <a:ext cx="2708847" cy="3268593"/>
          </a:xfrm>
          <a:custGeom>
            <a:avLst/>
            <a:gdLst/>
            <a:ahLst/>
            <a:cxnLst/>
            <a:rect r="r" b="b" t="t" l="l"/>
            <a:pathLst>
              <a:path h="3268593" w="2708847">
                <a:moveTo>
                  <a:pt x="0" y="0"/>
                </a:moveTo>
                <a:lnTo>
                  <a:pt x="2708847" y="0"/>
                </a:lnTo>
                <a:lnTo>
                  <a:pt x="2708847" y="3268593"/>
                </a:lnTo>
                <a:lnTo>
                  <a:pt x="0" y="32685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81090" y="28575"/>
            <a:ext cx="8533856" cy="120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15"/>
              </a:lnSpc>
            </a:pPr>
            <a:r>
              <a:rPr lang="en-US" sz="8100">
                <a:solidFill>
                  <a:srgbClr val="EB436E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Mockups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389761" y="7687663"/>
            <a:ext cx="3810000" cy="3343275"/>
          </a:xfrm>
          <a:custGeom>
            <a:avLst/>
            <a:gdLst/>
            <a:ahLst/>
            <a:cxnLst/>
            <a:rect r="r" b="b" t="t" l="l"/>
            <a:pathLst>
              <a:path h="3343275" w="3810000">
                <a:moveTo>
                  <a:pt x="0" y="0"/>
                </a:moveTo>
                <a:lnTo>
                  <a:pt x="3810000" y="0"/>
                </a:lnTo>
                <a:lnTo>
                  <a:pt x="3810000" y="3343275"/>
                </a:lnTo>
                <a:lnTo>
                  <a:pt x="0" y="33432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85390">
            <a:off x="-841264" y="8534187"/>
            <a:ext cx="2433946" cy="3077403"/>
          </a:xfrm>
          <a:custGeom>
            <a:avLst/>
            <a:gdLst/>
            <a:ahLst/>
            <a:cxnLst/>
            <a:rect r="r" b="b" t="t" l="l"/>
            <a:pathLst>
              <a:path h="3077403" w="2433946">
                <a:moveTo>
                  <a:pt x="0" y="0"/>
                </a:moveTo>
                <a:lnTo>
                  <a:pt x="2433945" y="0"/>
                </a:lnTo>
                <a:lnTo>
                  <a:pt x="2433945" y="3077403"/>
                </a:lnTo>
                <a:lnTo>
                  <a:pt x="0" y="30774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308564" y="-240545"/>
            <a:ext cx="4998628" cy="2817408"/>
          </a:xfrm>
          <a:custGeom>
            <a:avLst/>
            <a:gdLst/>
            <a:ahLst/>
            <a:cxnLst/>
            <a:rect r="r" b="b" t="t" l="l"/>
            <a:pathLst>
              <a:path h="2817408" w="4998628">
                <a:moveTo>
                  <a:pt x="4998628" y="2817408"/>
                </a:moveTo>
                <a:lnTo>
                  <a:pt x="0" y="2817408"/>
                </a:lnTo>
                <a:lnTo>
                  <a:pt x="0" y="0"/>
                </a:lnTo>
                <a:lnTo>
                  <a:pt x="4998628" y="0"/>
                </a:lnTo>
                <a:lnTo>
                  <a:pt x="4998628" y="281740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>
            <a:off x="3238500" y="2381250"/>
            <a:ext cx="5905500" cy="2765323"/>
          </a:xfrm>
          <a:custGeom>
            <a:avLst/>
            <a:gdLst/>
            <a:ahLst/>
            <a:cxnLst/>
            <a:rect r="r" b="b" t="t" l="l"/>
            <a:pathLst>
              <a:path h="2765323" w="5905500">
                <a:moveTo>
                  <a:pt x="5905500" y="2762250"/>
                </a:moveTo>
                <a:quadBezTo>
                  <a:pt x="2262188" y="2857500"/>
                  <a:pt x="0" y="0"/>
                </a:quadBezTo>
              </a:path>
            </a:pathLst>
          </a:custGeom>
          <a:ln cap="flat" w="28575">
            <a:solidFill>
              <a:srgbClr val="D4A8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2190750" y="2047875"/>
            <a:ext cx="2095500" cy="666750"/>
            <a:chOff x="0" y="0"/>
            <a:chExt cx="2794000" cy="889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D4A8E0"/>
            </a:solidFill>
            <a:ln w="19050" cap="sq">
              <a:solidFill>
                <a:srgbClr val="8B225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4A1942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Disponibilidad</a:t>
              </a:r>
            </a:p>
          </p:txBody>
        </p:sp>
      </p:grpSp>
      <p:sp>
        <p:nvSpPr>
          <p:cNvPr name="Freeform 9" id="9"/>
          <p:cNvSpPr/>
          <p:nvPr/>
        </p:nvSpPr>
        <p:spPr>
          <a:xfrm>
            <a:off x="9144000" y="2378177"/>
            <a:ext cx="5905500" cy="2765323"/>
          </a:xfrm>
          <a:custGeom>
            <a:avLst/>
            <a:gdLst/>
            <a:ahLst/>
            <a:cxnLst/>
            <a:rect r="r" b="b" t="t" l="l"/>
            <a:pathLst>
              <a:path h="2765323" w="5905500">
                <a:moveTo>
                  <a:pt x="0" y="2765323"/>
                </a:moveTo>
                <a:quadBezTo>
                  <a:pt x="2262188" y="-92177"/>
                  <a:pt x="5905500" y="3073"/>
                </a:quadBezTo>
              </a:path>
            </a:pathLst>
          </a:custGeom>
          <a:ln cap="flat" w="28575">
            <a:solidFill>
              <a:srgbClr val="D4A8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4001750" y="2047875"/>
            <a:ext cx="2095500" cy="666750"/>
            <a:chOff x="0" y="0"/>
            <a:chExt cx="2794000" cy="88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A0B8"/>
            </a:solidFill>
            <a:ln w="19050" cap="sq">
              <a:solidFill>
                <a:srgbClr val="8B225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4A1942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Reserva</a:t>
              </a:r>
            </a:p>
          </p:txBody>
        </p:sp>
      </p:grpSp>
      <p:sp>
        <p:nvSpPr>
          <p:cNvPr name="Freeform 13" id="13"/>
          <p:cNvSpPr/>
          <p:nvPr/>
        </p:nvSpPr>
        <p:spPr>
          <a:xfrm>
            <a:off x="1905000" y="5143500"/>
            <a:ext cx="7239000" cy="1827296"/>
          </a:xfrm>
          <a:custGeom>
            <a:avLst/>
            <a:gdLst/>
            <a:ahLst/>
            <a:cxnLst/>
            <a:rect r="r" b="b" t="t" l="l"/>
            <a:pathLst>
              <a:path h="1827296" w="7239000">
                <a:moveTo>
                  <a:pt x="7239000" y="0"/>
                </a:moveTo>
                <a:quadBezTo>
                  <a:pt x="4000500" y="2571750"/>
                  <a:pt x="0" y="1524000"/>
                </a:quadBezTo>
              </a:path>
            </a:pathLst>
          </a:custGeom>
          <a:ln cap="flat" w="28575">
            <a:solidFill>
              <a:srgbClr val="D4A8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857250" y="6334125"/>
            <a:ext cx="2095500" cy="666750"/>
            <a:chOff x="0" y="0"/>
            <a:chExt cx="2794000" cy="88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D4A8E0"/>
            </a:solidFill>
            <a:ln w="19050" cap="sq">
              <a:solidFill>
                <a:srgbClr val="8B225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4A1942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Geolocalización</a:t>
              </a:r>
            </a:p>
          </p:txBody>
        </p:sp>
      </p:grpSp>
      <p:sp>
        <p:nvSpPr>
          <p:cNvPr name="Freeform 17" id="17"/>
          <p:cNvSpPr/>
          <p:nvPr/>
        </p:nvSpPr>
        <p:spPr>
          <a:xfrm>
            <a:off x="5905500" y="5143500"/>
            <a:ext cx="3238500" cy="2667000"/>
          </a:xfrm>
          <a:custGeom>
            <a:avLst/>
            <a:gdLst/>
            <a:ahLst/>
            <a:cxnLst/>
            <a:rect r="r" b="b" t="t" l="l"/>
            <a:pathLst>
              <a:path h="2667000" w="3238500">
                <a:moveTo>
                  <a:pt x="3238500" y="0"/>
                </a:moveTo>
                <a:quadBezTo>
                  <a:pt x="2286000" y="2143125"/>
                  <a:pt x="0" y="2667000"/>
                </a:quadBezTo>
              </a:path>
            </a:pathLst>
          </a:custGeom>
          <a:ln cap="flat" w="28575">
            <a:solidFill>
              <a:srgbClr val="D4A8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4857750" y="7477125"/>
            <a:ext cx="2095500" cy="666750"/>
            <a:chOff x="0" y="0"/>
            <a:chExt cx="2794000" cy="889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8D8A8"/>
            </a:solidFill>
            <a:ln w="19050" cap="sq">
              <a:solidFill>
                <a:srgbClr val="8B2252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4A1942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Abono</a:t>
              </a:r>
            </a:p>
          </p:txBody>
        </p:sp>
      </p:grpSp>
      <p:sp>
        <p:nvSpPr>
          <p:cNvPr name="Freeform 21" id="21"/>
          <p:cNvSpPr/>
          <p:nvPr/>
        </p:nvSpPr>
        <p:spPr>
          <a:xfrm>
            <a:off x="9108927" y="5143991"/>
            <a:ext cx="2286000" cy="2667000"/>
          </a:xfrm>
          <a:custGeom>
            <a:avLst/>
            <a:gdLst/>
            <a:ahLst/>
            <a:cxnLst/>
            <a:rect r="r" b="b" t="t" l="l"/>
            <a:pathLst>
              <a:path h="2667000" w="2286000">
                <a:moveTo>
                  <a:pt x="0" y="0"/>
                </a:moveTo>
                <a:quadBezTo>
                  <a:pt x="1809750" y="762000"/>
                  <a:pt x="2286000" y="2667000"/>
                </a:quadBezTo>
              </a:path>
            </a:pathLst>
          </a:custGeom>
          <a:ln cap="flat" w="28575">
            <a:solidFill>
              <a:srgbClr val="D4A8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0382250" y="7477125"/>
            <a:ext cx="2095500" cy="666750"/>
            <a:chOff x="0" y="0"/>
            <a:chExt cx="2794000" cy="889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A8D8A8"/>
            </a:solidFill>
            <a:ln w="19050" cap="sq">
              <a:solidFill>
                <a:srgbClr val="8B2252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4A1942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Agenda</a:t>
              </a:r>
            </a:p>
          </p:txBody>
        </p:sp>
      </p:grpSp>
      <p:sp>
        <p:nvSpPr>
          <p:cNvPr name="Freeform 25" id="25"/>
          <p:cNvSpPr/>
          <p:nvPr/>
        </p:nvSpPr>
        <p:spPr>
          <a:xfrm>
            <a:off x="9144000" y="4859681"/>
            <a:ext cx="7048500" cy="1807819"/>
          </a:xfrm>
          <a:custGeom>
            <a:avLst/>
            <a:gdLst/>
            <a:ahLst/>
            <a:cxnLst/>
            <a:rect r="r" b="b" t="t" l="l"/>
            <a:pathLst>
              <a:path h="1807819" w="7048500">
                <a:moveTo>
                  <a:pt x="0" y="283819"/>
                </a:moveTo>
                <a:quadBezTo>
                  <a:pt x="3905250" y="-716306"/>
                  <a:pt x="7048500" y="1807819"/>
                </a:quadBezTo>
              </a:path>
            </a:pathLst>
          </a:custGeom>
          <a:ln cap="flat" w="28575">
            <a:solidFill>
              <a:srgbClr val="D4A8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7533240" y="4273864"/>
            <a:ext cx="3221520" cy="1490795"/>
            <a:chOff x="0" y="0"/>
            <a:chExt cx="4295359" cy="1987727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295359" cy="1987727"/>
              <a:chOff x="0" y="0"/>
              <a:chExt cx="4064000" cy="188066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064000" cy="1880663"/>
              </a:xfrm>
              <a:custGeom>
                <a:avLst/>
                <a:gdLst/>
                <a:ahLst/>
                <a:cxnLst/>
                <a:rect r="r" b="b" t="t" l="l"/>
                <a:pathLst>
                  <a:path h="1880663" w="4064000">
                    <a:moveTo>
                      <a:pt x="203200" y="0"/>
                    </a:moveTo>
                    <a:lnTo>
                      <a:pt x="3860800" y="0"/>
                    </a:lnTo>
                    <a:cubicBezTo>
                      <a:pt x="3973024" y="0"/>
                      <a:pt x="4064000" y="84200"/>
                      <a:pt x="4064000" y="188066"/>
                    </a:cubicBezTo>
                    <a:lnTo>
                      <a:pt x="4064000" y="1692597"/>
                    </a:lnTo>
                    <a:cubicBezTo>
                      <a:pt x="4064000" y="1796463"/>
                      <a:pt x="3973024" y="1880663"/>
                      <a:pt x="3860800" y="1880663"/>
                    </a:cubicBezTo>
                    <a:lnTo>
                      <a:pt x="203200" y="1880663"/>
                    </a:lnTo>
                    <a:cubicBezTo>
                      <a:pt x="90976" y="1880663"/>
                      <a:pt x="0" y="1796463"/>
                      <a:pt x="0" y="1692597"/>
                    </a:cubicBezTo>
                    <a:lnTo>
                      <a:pt x="0" y="188066"/>
                    </a:lnTo>
                    <a:cubicBezTo>
                      <a:pt x="0" y="8420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8B2252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4064000" cy="19187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8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68460" y="407212"/>
              <a:ext cx="3758439" cy="846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6"/>
                </a:lnSpc>
              </a:pPr>
              <a:r>
                <a:rPr lang="en-US" sz="3804">
                  <a:solidFill>
                    <a:srgbClr val="FFF6E6"/>
                  </a:solidFill>
                  <a:latin typeface="Gotham"/>
                  <a:ea typeface="Gotham"/>
                  <a:cs typeface="Gotham"/>
                  <a:sym typeface="Gotham"/>
                </a:rPr>
                <a:t>EL TIEMPO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219034" y="1206267"/>
              <a:ext cx="3758439" cy="3796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7"/>
                </a:lnSpc>
              </a:pPr>
              <a:r>
                <a:rPr lang="en-US" sz="1691">
                  <a:solidFill>
                    <a:srgbClr val="FFF6E6"/>
                  </a:solidFill>
                  <a:latin typeface="Questrial"/>
                  <a:ea typeface="Questrial"/>
                  <a:cs typeface="Questrial"/>
                  <a:sym typeface="Questrial"/>
                </a:rPr>
                <a:t>de la emprendedora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144750" y="6334125"/>
            <a:ext cx="2095500" cy="666750"/>
            <a:chOff x="0" y="0"/>
            <a:chExt cx="2794000" cy="889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94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794000">
                  <a:moveTo>
                    <a:pt x="88900" y="0"/>
                  </a:moveTo>
                  <a:lnTo>
                    <a:pt x="2705100" y="0"/>
                  </a:lnTo>
                  <a:cubicBezTo>
                    <a:pt x="2754198" y="0"/>
                    <a:pt x="2794000" y="39802"/>
                    <a:pt x="2794000" y="88900"/>
                  </a:cubicBezTo>
                  <a:lnTo>
                    <a:pt x="2794000" y="800100"/>
                  </a:lnTo>
                  <a:cubicBezTo>
                    <a:pt x="2794000" y="849198"/>
                    <a:pt x="2754198" y="889000"/>
                    <a:pt x="2705100" y="889000"/>
                  </a:cubicBezTo>
                  <a:lnTo>
                    <a:pt x="88900" y="889000"/>
                  </a:lnTo>
                  <a:cubicBezTo>
                    <a:pt x="39802" y="889000"/>
                    <a:pt x="0" y="849198"/>
                    <a:pt x="0" y="800100"/>
                  </a:cubicBezTo>
                  <a:lnTo>
                    <a:pt x="0" y="88900"/>
                  </a:lnTo>
                  <a:cubicBezTo>
                    <a:pt x="0" y="39802"/>
                    <a:pt x="39802" y="0"/>
                    <a:pt x="88900" y="0"/>
                  </a:cubicBezTo>
                  <a:close/>
                </a:path>
              </a:pathLst>
            </a:custGeom>
            <a:solidFill>
              <a:srgbClr val="F5A0B8"/>
            </a:solidFill>
            <a:ln w="19050" cap="sq">
              <a:solidFill>
                <a:srgbClr val="8B2252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794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4A1942"/>
                  </a:solidFill>
                  <a:latin typeface="Bukhari Script"/>
                  <a:ea typeface="Bukhari Script"/>
                  <a:cs typeface="Bukhari Script"/>
                  <a:sym typeface="Bukhari Script"/>
                </a:rPr>
                <a:t>Dashboard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429000" y="9677400"/>
            <a:ext cx="1143000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8B2252"/>
                </a:solidFill>
                <a:latin typeface="Questrial"/>
                <a:ea typeface="Questrial"/>
                <a:cs typeface="Questrial"/>
                <a:sym typeface="Questrial"/>
              </a:rPr>
              <a:t>Menos gestión manual · más organización · más información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24718" y="7401329"/>
            <a:ext cx="5923247" cy="3338557"/>
          </a:xfrm>
          <a:custGeom>
            <a:avLst/>
            <a:gdLst/>
            <a:ahLst/>
            <a:cxnLst/>
            <a:rect r="r" b="b" t="t" l="l"/>
            <a:pathLst>
              <a:path h="3338557" w="5923247">
                <a:moveTo>
                  <a:pt x="0" y="0"/>
                </a:moveTo>
                <a:lnTo>
                  <a:pt x="5923247" y="0"/>
                </a:lnTo>
                <a:lnTo>
                  <a:pt x="5923247" y="3338558"/>
                </a:lnTo>
                <a:lnTo>
                  <a:pt x="0" y="3338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676361" y="-406021"/>
            <a:ext cx="5923247" cy="3338557"/>
          </a:xfrm>
          <a:custGeom>
            <a:avLst/>
            <a:gdLst/>
            <a:ahLst/>
            <a:cxnLst/>
            <a:rect r="r" b="b" t="t" l="l"/>
            <a:pathLst>
              <a:path h="3338557" w="5923247">
                <a:moveTo>
                  <a:pt x="5923247" y="3338557"/>
                </a:moveTo>
                <a:lnTo>
                  <a:pt x="0" y="3338557"/>
                </a:lnTo>
                <a:lnTo>
                  <a:pt x="0" y="0"/>
                </a:lnTo>
                <a:lnTo>
                  <a:pt x="5923247" y="0"/>
                </a:lnTo>
                <a:lnTo>
                  <a:pt x="5923247" y="333855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8618288">
            <a:off x="13878272" y="-4025689"/>
            <a:ext cx="8698559" cy="6523919"/>
          </a:xfrm>
          <a:custGeom>
            <a:avLst/>
            <a:gdLst/>
            <a:ahLst/>
            <a:cxnLst/>
            <a:rect r="r" b="b" t="t" l="l"/>
            <a:pathLst>
              <a:path h="6523919" w="8698559">
                <a:moveTo>
                  <a:pt x="0" y="0"/>
                </a:moveTo>
                <a:lnTo>
                  <a:pt x="8698558" y="0"/>
                </a:lnTo>
                <a:lnTo>
                  <a:pt x="8698558" y="6523919"/>
                </a:lnTo>
                <a:lnTo>
                  <a:pt x="0" y="652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618288">
            <a:off x="-3401342" y="6838709"/>
            <a:ext cx="9531662" cy="7148746"/>
          </a:xfrm>
          <a:custGeom>
            <a:avLst/>
            <a:gdLst/>
            <a:ahLst/>
            <a:cxnLst/>
            <a:rect r="r" b="b" t="t" l="l"/>
            <a:pathLst>
              <a:path h="7148746" w="9531662">
                <a:moveTo>
                  <a:pt x="0" y="0"/>
                </a:moveTo>
                <a:lnTo>
                  <a:pt x="9531661" y="0"/>
                </a:lnTo>
                <a:lnTo>
                  <a:pt x="9531661" y="7148746"/>
                </a:lnTo>
                <a:lnTo>
                  <a:pt x="0" y="714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112542" y="2266421"/>
            <a:ext cx="14062916" cy="4376418"/>
            <a:chOff x="0" y="0"/>
            <a:chExt cx="3703813" cy="11526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03813" cy="1152637"/>
            </a:xfrm>
            <a:custGeom>
              <a:avLst/>
              <a:gdLst/>
              <a:ahLst/>
              <a:cxnLst/>
              <a:rect r="r" b="b" t="t" l="l"/>
              <a:pathLst>
                <a:path h="1152637" w="3703813">
                  <a:moveTo>
                    <a:pt x="25324" y="0"/>
                  </a:moveTo>
                  <a:lnTo>
                    <a:pt x="3678489" y="0"/>
                  </a:lnTo>
                  <a:cubicBezTo>
                    <a:pt x="3692475" y="0"/>
                    <a:pt x="3703813" y="11338"/>
                    <a:pt x="3703813" y="25324"/>
                  </a:cubicBezTo>
                  <a:lnTo>
                    <a:pt x="3703813" y="1127313"/>
                  </a:lnTo>
                  <a:cubicBezTo>
                    <a:pt x="3703813" y="1141299"/>
                    <a:pt x="3692475" y="1152637"/>
                    <a:pt x="3678489" y="1152637"/>
                  </a:cubicBezTo>
                  <a:lnTo>
                    <a:pt x="25324" y="1152637"/>
                  </a:lnTo>
                  <a:cubicBezTo>
                    <a:pt x="11338" y="1152637"/>
                    <a:pt x="0" y="1141299"/>
                    <a:pt x="0" y="1127313"/>
                  </a:cubicBezTo>
                  <a:lnTo>
                    <a:pt x="0" y="25324"/>
                  </a:lnTo>
                  <a:cubicBezTo>
                    <a:pt x="0" y="11338"/>
                    <a:pt x="11338" y="0"/>
                    <a:pt x="25324" y="0"/>
                  </a:cubicBezTo>
                  <a:close/>
                </a:path>
              </a:pathLst>
            </a:custGeom>
            <a:solidFill>
              <a:srgbClr val="C03C4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703813" cy="1181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6785390">
            <a:off x="16909721" y="1447477"/>
            <a:ext cx="2433946" cy="3077403"/>
          </a:xfrm>
          <a:custGeom>
            <a:avLst/>
            <a:gdLst/>
            <a:ahLst/>
            <a:cxnLst/>
            <a:rect r="r" b="b" t="t" l="l"/>
            <a:pathLst>
              <a:path h="3077403" w="2433946">
                <a:moveTo>
                  <a:pt x="0" y="0"/>
                </a:moveTo>
                <a:lnTo>
                  <a:pt x="2433946" y="0"/>
                </a:lnTo>
                <a:lnTo>
                  <a:pt x="2433946" y="3077403"/>
                </a:lnTo>
                <a:lnTo>
                  <a:pt x="0" y="3077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49429" y="1736753"/>
            <a:ext cx="1231252" cy="1249425"/>
          </a:xfrm>
          <a:custGeom>
            <a:avLst/>
            <a:gdLst/>
            <a:ahLst/>
            <a:cxnLst/>
            <a:rect r="r" b="b" t="t" l="l"/>
            <a:pathLst>
              <a:path h="1249425" w="1231252">
                <a:moveTo>
                  <a:pt x="0" y="0"/>
                </a:moveTo>
                <a:lnTo>
                  <a:pt x="1231252" y="0"/>
                </a:lnTo>
                <a:lnTo>
                  <a:pt x="1231252" y="1249426"/>
                </a:lnTo>
                <a:lnTo>
                  <a:pt x="0" y="1249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67865" y="2656478"/>
            <a:ext cx="750088" cy="761160"/>
          </a:xfrm>
          <a:custGeom>
            <a:avLst/>
            <a:gdLst/>
            <a:ahLst/>
            <a:cxnLst/>
            <a:rect r="r" b="b" t="t" l="l"/>
            <a:pathLst>
              <a:path h="761160" w="750088">
                <a:moveTo>
                  <a:pt x="0" y="0"/>
                </a:moveTo>
                <a:lnTo>
                  <a:pt x="750088" y="0"/>
                </a:lnTo>
                <a:lnTo>
                  <a:pt x="750088" y="761159"/>
                </a:lnTo>
                <a:lnTo>
                  <a:pt x="0" y="761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3173" y="6570548"/>
            <a:ext cx="2062631" cy="3716452"/>
          </a:xfrm>
          <a:custGeom>
            <a:avLst/>
            <a:gdLst/>
            <a:ahLst/>
            <a:cxnLst/>
            <a:rect r="r" b="b" t="t" l="l"/>
            <a:pathLst>
              <a:path h="3716452" w="2062631">
                <a:moveTo>
                  <a:pt x="0" y="0"/>
                </a:moveTo>
                <a:lnTo>
                  <a:pt x="2062631" y="0"/>
                </a:lnTo>
                <a:lnTo>
                  <a:pt x="2062631" y="3716452"/>
                </a:lnTo>
                <a:lnTo>
                  <a:pt x="0" y="3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78940" y="7013208"/>
            <a:ext cx="3909060" cy="4114800"/>
          </a:xfrm>
          <a:custGeom>
            <a:avLst/>
            <a:gdLst/>
            <a:ahLst/>
            <a:cxnLst/>
            <a:rect r="r" b="b" t="t" l="l"/>
            <a:pathLst>
              <a:path h="4114800" w="3909060">
                <a:moveTo>
                  <a:pt x="0" y="0"/>
                </a:moveTo>
                <a:lnTo>
                  <a:pt x="3909060" y="0"/>
                </a:lnTo>
                <a:lnTo>
                  <a:pt x="39090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77072" y="3160500"/>
            <a:ext cx="8533856" cy="1403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4"/>
              </a:lnSpc>
            </a:pPr>
            <a:r>
              <a:rPr lang="en-US" sz="9499">
                <a:solidFill>
                  <a:srgbClr val="FFF6E6"/>
                </a:solidFill>
                <a:latin typeface="Bukhari Script"/>
                <a:ea typeface="Bukhari Script"/>
                <a:cs typeface="Bukhari Script"/>
                <a:sym typeface="Bukhari Script"/>
              </a:rPr>
              <a:t>Meraki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06524" y="4870222"/>
            <a:ext cx="7874952" cy="580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true">
                <a:solidFill>
                  <a:srgbClr val="FFF6E6"/>
                </a:solidFill>
                <a:latin typeface="Gotham Bold"/>
                <a:ea typeface="Gotham Bold"/>
                <a:cs typeface="Gotham Bold"/>
                <a:sym typeface="Gotham Bold"/>
              </a:rPr>
              <a:t>hecho para mujeres emprendedoras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DAHUNj8auV4</dc:identifier>
  <dcterms:modified xsi:type="dcterms:W3CDTF">2011-08-01T06:04:30Z</dcterms:modified>
  <cp:revision>1</cp:revision>
  <dc:title>Meraki</dc:title>
</cp:coreProperties>
</file>